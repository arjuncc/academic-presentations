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6" r:id="rId2"/>
    <p:sldId id="257" r:id="rId3"/>
    <p:sldId id="258" r:id="rId4"/>
    <p:sldId id="304" r:id="rId5"/>
    <p:sldId id="306" r:id="rId6"/>
    <p:sldId id="311" r:id="rId7"/>
    <p:sldId id="308" r:id="rId8"/>
    <p:sldId id="309" r:id="rId9"/>
    <p:sldId id="310" r:id="rId10"/>
    <p:sldId id="312" r:id="rId11"/>
    <p:sldId id="314" r:id="rId12"/>
    <p:sldId id="326" r:id="rId13"/>
    <p:sldId id="259" r:id="rId14"/>
    <p:sldId id="313" r:id="rId15"/>
    <p:sldId id="315" r:id="rId16"/>
    <p:sldId id="316" r:id="rId17"/>
    <p:sldId id="260" r:id="rId18"/>
    <p:sldId id="318" r:id="rId19"/>
    <p:sldId id="324" r:id="rId20"/>
    <p:sldId id="325" r:id="rId21"/>
    <p:sldId id="322" r:id="rId22"/>
    <p:sldId id="323" r:id="rId23"/>
    <p:sldId id="320" r:id="rId24"/>
    <p:sldId id="307" r:id="rId25"/>
    <p:sldId id="262" r:id="rId26"/>
    <p:sldId id="321" r:id="rId27"/>
    <p:sldId id="266" r:id="rId28"/>
  </p:sldIdLst>
  <p:sldSz cx="9144000" cy="5143500" type="screen16x9"/>
  <p:notesSz cx="6858000" cy="9144000"/>
  <p:embeddedFontLst>
    <p:embeddedFont>
      <p:font typeface="Fira Sans Extra Condensed" panose="020B0503050000020004" pitchFamily="34" charset="0"/>
      <p:regular r:id="rId30"/>
      <p:bold r:id="rId31"/>
      <p:italic r:id="rId32"/>
      <p:boldItalic r:id="rId33"/>
    </p:embeddedFont>
    <p:embeddedFont>
      <p:font typeface="Fira Sans Extra Condensed Medium" panose="020B0604020202020204" charset="0"/>
      <p:regular r:id="rId34"/>
      <p:bold r:id="rId35"/>
      <p:italic r:id="rId36"/>
      <p:boldItalic r:id="rId37"/>
    </p:embeddedFont>
    <p:embeddedFont>
      <p:font typeface="Fira Sans Extra Condensed SemiBold" panose="020B0604020202020204" charset="0"/>
      <p:regular r:id="rId38"/>
      <p:bold r:id="rId39"/>
      <p:italic r:id="rId40"/>
      <p:boldItalic r:id="rId41"/>
    </p:embeddedFont>
    <p:embeddedFont>
      <p:font typeface="Georgia" panose="02040502050405020303" pitchFamily="18" charset="0"/>
      <p:regular r:id="rId42"/>
      <p:bold r:id="rId43"/>
      <p:italic r:id="rId44"/>
      <p:boldItalic r:id="rId45"/>
    </p:embeddedFont>
    <p:embeddedFont>
      <p:font typeface="Roboto" panose="020000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37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searchdatamanagement.techtarget.com/feature/How-to-build-an-all-purpose-big-data-pipeline-architecture"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www.techtarget.com/searchdatamanagement/definition/stream-processing" TargetMode="Externa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searchdatamanagement.techtarget.com/feature/How-to-build-an-all-purpose-big-data-pipeline-architecture"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www.techtarget.com/searchdatamanagement/definition/stream-processing"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b09b6453aa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b09b6453aa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Read the quote</a:t>
            </a:r>
            <a:endParaRPr/>
          </a:p>
          <a:p>
            <a:pPr marL="457200" lvl="0" indent="-298450" algn="l" rtl="0">
              <a:spcBef>
                <a:spcPts val="0"/>
              </a:spcBef>
              <a:spcAft>
                <a:spcPts val="0"/>
              </a:spcAft>
              <a:buSzPts val="1100"/>
              <a:buAutoNum type="arabicPeriod"/>
            </a:pPr>
            <a:r>
              <a:rPr lang="en"/>
              <a:t>Tell about how the deer will feel in the highway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65ca419c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65ca419c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bottom you can see multiple logos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779057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158592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3309758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3291135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1043422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3936856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09b6453a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09b6453a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make us all interested in a topic, curiocity </a:t>
            </a:r>
            <a:endParaRPr/>
          </a:p>
          <a:p>
            <a:pPr marL="0" lvl="0" indent="0" algn="l" rtl="0">
              <a:spcBef>
                <a:spcPts val="0"/>
              </a:spcBef>
              <a:spcAft>
                <a:spcPts val="0"/>
              </a:spcAft>
              <a:buNone/>
            </a:pPr>
            <a:r>
              <a:rPr lang="en"/>
              <a:t>During this session we will go through all the listed things</a:t>
            </a:r>
            <a:endParaRPr/>
          </a:p>
        </p:txBody>
      </p:sp>
    </p:spTree>
    <p:extLst>
      <p:ext uri="{BB962C8B-B14F-4D97-AF65-F5344CB8AC3E}">
        <p14:creationId xmlns:p14="http://schemas.microsoft.com/office/powerpoint/2010/main" val="1099890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09b6453a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09b6453a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888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09b6453a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09b6453a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5201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09b6453a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09b6453a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767935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568401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09b6453a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09b6453a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629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3528293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826941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257142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372142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b09b6453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b09b6453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decision-making</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is the key element to becoming a data-driven organization. When you can manage and analyze your big data, you can discover patterns and unlock insights that improve and drive better operational and strategic decisions.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Increased agility and innovation</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collect and process real-time data points and analyze them to adapt quickly and gain a competitive advantage. These insights can guide and accelerate the planning, production, and launch of new products, features, and updates.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Better customer experiences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insights for consumer understanding, personalization, and ways to optimize experience to better meet consumer needs and expectations.</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Continuous intelligence</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Big data allows you to integrate automated, real-time data streaming with advanced data analytics to continuously collect data, find new insights, and discover new opportunities for growth and value.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More efficient operations</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reduce costs, save time, and increase your overall efficiency. </a:t>
            </a:r>
            <a:endParaRPr sz="1200">
              <a:solidFill>
                <a:srgbClr val="5F6368"/>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 </a:t>
            </a:r>
            <a:endParaRPr sz="1200">
              <a:solidFill>
                <a:srgbClr val="5F6368"/>
              </a:solidFill>
              <a:highlight>
                <a:srgbClr val="FFFFFF"/>
              </a:highlight>
            </a:endParaRPr>
          </a:p>
          <a:p>
            <a:pPr marL="0" lvl="0" indent="0" algn="l" rtl="0">
              <a:lnSpc>
                <a:spcPct val="138461"/>
              </a:lnSpc>
              <a:spcBef>
                <a:spcPts val="1400"/>
              </a:spcBef>
              <a:spcAft>
                <a:spcPts val="0"/>
              </a:spcAft>
              <a:buClr>
                <a:schemeClr val="dk1"/>
              </a:buClr>
              <a:buSzPts val="1100"/>
              <a:buFont typeface="Arial"/>
              <a:buNone/>
            </a:pPr>
            <a:r>
              <a:rPr lang="en" sz="1300" b="1">
                <a:solidFill>
                  <a:srgbClr val="202124"/>
                </a:solidFill>
                <a:highlight>
                  <a:srgbClr val="FFFFFF"/>
                </a:highlight>
              </a:rPr>
              <a:t>Improved risk management</a:t>
            </a:r>
            <a:endParaRPr sz="1300" b="1">
              <a:solidFill>
                <a:srgbClr val="202124"/>
              </a:solidFill>
              <a:highlight>
                <a:srgbClr val="FFFFFF"/>
              </a:highlight>
            </a:endParaRPr>
          </a:p>
          <a:p>
            <a:pPr marL="228600" lvl="0" indent="0" algn="l" rtl="0">
              <a:lnSpc>
                <a:spcPct val="163636"/>
              </a:lnSpc>
              <a:spcBef>
                <a:spcPts val="2200"/>
              </a:spcBef>
              <a:spcAft>
                <a:spcPts val="0"/>
              </a:spcAft>
              <a:buClr>
                <a:schemeClr val="dk1"/>
              </a:buClr>
              <a:buSzPts val="1100"/>
              <a:buFont typeface="Arial"/>
              <a:buNone/>
            </a:pPr>
            <a:r>
              <a:rPr lang="en" sz="1200">
                <a:solidFill>
                  <a:srgbClr val="5F6368"/>
                </a:solidFill>
                <a:highlight>
                  <a:srgbClr val="FFFFFF"/>
                </a:highlight>
              </a:rPr>
              <a:t>Analyzing vast amounts of data helps companies evaluate risk better—making it easier to identify and monitor all potential threats and report insights that lead to more robust control and mitigation strategies.</a:t>
            </a:r>
            <a:endParaRPr sz="1200">
              <a:solidFill>
                <a:srgbClr val="5F6368"/>
              </a:solidFill>
              <a:highlight>
                <a:srgbClr val="FFFFFF"/>
              </a:highlight>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502307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09b6453a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09b6453a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3157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09b6453a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b09b6453a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0589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b09b6453aa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b09b6453aa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lnSpc>
                <a:spcPct val="125000"/>
              </a:lnSpc>
              <a:spcBef>
                <a:spcPts val="1400"/>
              </a:spcBef>
              <a:spcAft>
                <a:spcPts val="0"/>
              </a:spcAft>
              <a:buClr>
                <a:srgbClr val="202124"/>
              </a:buClr>
              <a:buSzPts val="1300"/>
              <a:buChar char="●"/>
            </a:pPr>
            <a:r>
              <a:rPr lang="en" sz="1300" b="1">
                <a:solidFill>
                  <a:srgbClr val="32325D"/>
                </a:solidFill>
                <a:highlight>
                  <a:srgbClr val="FFFFFF"/>
                </a:highlight>
              </a:rPr>
              <a:t>Hadoop</a:t>
            </a:r>
            <a:endParaRPr sz="1300" b="1">
              <a:solidFill>
                <a:srgbClr val="32325D"/>
              </a:solidFill>
              <a:highlight>
                <a:srgbClr val="FFFFFF"/>
              </a:highlight>
            </a:endParaRPr>
          </a:p>
          <a:p>
            <a:pPr marL="914400" lvl="1" indent="-311150" algn="l" rtl="0">
              <a:lnSpc>
                <a:spcPct val="125000"/>
              </a:lnSpc>
              <a:spcBef>
                <a:spcPts val="0"/>
              </a:spcBef>
              <a:spcAft>
                <a:spcPts val="0"/>
              </a:spcAft>
              <a:buClr>
                <a:srgbClr val="32325D"/>
              </a:buClr>
              <a:buSzPts val="1300"/>
              <a:buChar char="○"/>
            </a:pPr>
            <a:r>
              <a:rPr lang="en" sz="1350">
                <a:solidFill>
                  <a:srgbClr val="32325D"/>
                </a:solidFill>
                <a:highlight>
                  <a:srgbClr val="FFFFFF"/>
                </a:highlight>
              </a:rPr>
              <a:t>Java-based open-source, robust, and fault-tolerant Big Data Processing platform from the Apache software foundation</a:t>
            </a:r>
            <a:endParaRPr sz="1300" b="1">
              <a:solidFill>
                <a:srgbClr val="32325D"/>
              </a:solidFill>
              <a:highlight>
                <a:srgbClr val="FFFFFF"/>
              </a:highlight>
            </a:endParaRPr>
          </a:p>
          <a:p>
            <a:pPr marL="457200" lvl="0" indent="-311150" algn="l" rtl="0">
              <a:lnSpc>
                <a:spcPct val="138461"/>
              </a:lnSpc>
              <a:spcBef>
                <a:spcPts val="0"/>
              </a:spcBef>
              <a:spcAft>
                <a:spcPts val="0"/>
              </a:spcAft>
              <a:buClr>
                <a:srgbClr val="202124"/>
              </a:buClr>
              <a:buSzPts val="1300"/>
              <a:buChar char="●"/>
            </a:pPr>
            <a:r>
              <a:rPr lang="en" sz="1300" b="1">
                <a:solidFill>
                  <a:srgbClr val="202124"/>
                </a:solidFill>
                <a:highlight>
                  <a:schemeClr val="lt1"/>
                </a:highlight>
              </a:rPr>
              <a:t>Apache Beam</a:t>
            </a:r>
            <a:endParaRPr sz="1300" b="1">
              <a:solidFill>
                <a:srgbClr val="202124"/>
              </a:solidFill>
              <a:highlight>
                <a:schemeClr val="lt1"/>
              </a:highlight>
            </a:endParaRPr>
          </a:p>
          <a:p>
            <a:pPr marL="914400" lvl="1" indent="-311150" algn="l" rtl="0">
              <a:lnSpc>
                <a:spcPct val="138461"/>
              </a:lnSpc>
              <a:spcBef>
                <a:spcPts val="0"/>
              </a:spcBef>
              <a:spcAft>
                <a:spcPts val="0"/>
              </a:spcAft>
              <a:buClr>
                <a:srgbClr val="202124"/>
              </a:buClr>
              <a:buSzPts val="1300"/>
              <a:buChar char="○"/>
            </a:pPr>
            <a:r>
              <a:rPr lang="en" sz="1350">
                <a:solidFill>
                  <a:srgbClr val="32325D"/>
                </a:solidFill>
                <a:highlight>
                  <a:srgbClr val="FFFFFF"/>
                </a:highlight>
              </a:rPr>
              <a:t>Apache Beam is an open source unified programming model to define and execute data processing pipelines, including ETL, batch and stream (continuous) processing</a:t>
            </a:r>
            <a:endParaRPr sz="1300" b="1">
              <a:solidFill>
                <a:srgbClr val="202124"/>
              </a:solidFill>
              <a:highlight>
                <a:schemeClr val="lt1"/>
              </a:highlight>
            </a:endParaRPr>
          </a:p>
          <a:p>
            <a:pPr marL="457200" lvl="0" indent="-311150" algn="l" rtl="0">
              <a:lnSpc>
                <a:spcPct val="138461"/>
              </a:lnSpc>
              <a:spcBef>
                <a:spcPts val="0"/>
              </a:spcBef>
              <a:spcAft>
                <a:spcPts val="0"/>
              </a:spcAft>
              <a:buClr>
                <a:srgbClr val="202124"/>
              </a:buClr>
              <a:buSzPts val="1300"/>
              <a:buChar char="●"/>
            </a:pPr>
            <a:r>
              <a:rPr lang="en" sz="1300" b="1">
                <a:solidFill>
                  <a:srgbClr val="202124"/>
                </a:solidFill>
                <a:highlight>
                  <a:schemeClr val="lt1"/>
                </a:highlight>
              </a:rPr>
              <a:t>Kafka</a:t>
            </a:r>
            <a:endParaRPr sz="1750" b="1">
              <a:solidFill>
                <a:srgbClr val="323232"/>
              </a:solidFill>
              <a:highlight>
                <a:srgbClr val="FFFFFF"/>
              </a:highlight>
            </a:endParaRPr>
          </a:p>
          <a:p>
            <a:pPr marL="914400" lvl="1" indent="-311150" algn="l" rtl="0">
              <a:lnSpc>
                <a:spcPct val="125000"/>
              </a:lnSpc>
              <a:spcBef>
                <a:spcPts val="0"/>
              </a:spcBef>
              <a:spcAft>
                <a:spcPts val="0"/>
              </a:spcAft>
              <a:buClr>
                <a:srgbClr val="32325D"/>
              </a:buClr>
              <a:buSzPts val="1300"/>
              <a:buChar char="○"/>
            </a:pPr>
            <a:r>
              <a:rPr lang="en" sz="1350">
                <a:solidFill>
                  <a:srgbClr val="666666"/>
                </a:solidFill>
                <a:highlight>
                  <a:srgbClr val="FFFFFF"/>
                </a:highlight>
              </a:rPr>
              <a:t>Kafka is a distributed event streaming platform</a:t>
            </a:r>
            <a:endParaRPr sz="1300" b="1">
              <a:solidFill>
                <a:srgbClr val="32325D"/>
              </a:solidFill>
              <a:highlight>
                <a:srgbClr val="FFFFFF"/>
              </a:highlight>
            </a:endParaRPr>
          </a:p>
          <a:p>
            <a:pPr marL="457200" lvl="0" indent="-314325" algn="l" rtl="0">
              <a:lnSpc>
                <a:spcPct val="125000"/>
              </a:lnSpc>
              <a:spcBef>
                <a:spcPts val="0"/>
              </a:spcBef>
              <a:spcAft>
                <a:spcPts val="0"/>
              </a:spcAft>
              <a:buClr>
                <a:schemeClr val="dk1"/>
              </a:buClr>
              <a:buSzPts val="1350"/>
              <a:buChar char="●"/>
            </a:pPr>
            <a:r>
              <a:rPr lang="en" sz="1300" b="1">
                <a:solidFill>
                  <a:srgbClr val="32325D"/>
                </a:solidFill>
                <a:highlight>
                  <a:srgbClr val="FFFFFF"/>
                </a:highlight>
              </a:rPr>
              <a:t>Apache Spark</a:t>
            </a:r>
            <a:endParaRPr sz="1300" b="1">
              <a:solidFill>
                <a:srgbClr val="32325D"/>
              </a:solidFill>
              <a:highlight>
                <a:srgbClr val="FFFFFF"/>
              </a:highlight>
            </a:endParaRPr>
          </a:p>
          <a:p>
            <a:pPr marL="914400" lvl="1" indent="-311150" algn="l" rtl="0">
              <a:lnSpc>
                <a:spcPct val="125000"/>
              </a:lnSpc>
              <a:spcBef>
                <a:spcPts val="0"/>
              </a:spcBef>
              <a:spcAft>
                <a:spcPts val="0"/>
              </a:spcAft>
              <a:buClr>
                <a:srgbClr val="32325D"/>
              </a:buClr>
              <a:buSzPts val="1300"/>
              <a:buChar char="○"/>
            </a:pPr>
            <a:r>
              <a:rPr lang="en" sz="1350">
                <a:solidFill>
                  <a:srgbClr val="666666"/>
                </a:solidFill>
                <a:highlight>
                  <a:srgbClr val="FFFFFF"/>
                </a:highlight>
              </a:rPr>
              <a:t>Apache Spark is an in-memory data processing and analytics engine that can run on clusters managed by Hadoop YARN, Mesos and Kubernetes or in a standalone mode. </a:t>
            </a:r>
            <a:endParaRPr sz="1350">
              <a:solidFill>
                <a:srgbClr val="666666"/>
              </a:solidFill>
              <a:highlight>
                <a:srgbClr val="FFFFFF"/>
              </a:highlight>
            </a:endParaRPr>
          </a:p>
          <a:p>
            <a:pPr marL="457200" lvl="0"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Airflow</a:t>
            </a:r>
            <a:endParaRPr sz="1350">
              <a:solidFill>
                <a:srgbClr val="666666"/>
              </a:solidFill>
              <a:highlight>
                <a:srgbClr val="FFFFFF"/>
              </a:highlight>
            </a:endParaRPr>
          </a:p>
          <a:p>
            <a:pPr marL="914400" lvl="1"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Airflow is a workflow management platform for scheduling and running </a:t>
            </a:r>
            <a:r>
              <a:rPr lang="en" sz="1350" u="sng">
                <a:solidFill>
                  <a:srgbClr val="007CAD"/>
                </a:solidFill>
                <a:highlight>
                  <a:srgbClr val="FFFFFF"/>
                </a:highlight>
                <a:hlinkClick r:id="rId3">
                  <a:extLst>
                    <a:ext uri="{A12FA001-AC4F-418D-AE19-62706E023703}">
                      <ahyp:hlinkClr xmlns:ahyp="http://schemas.microsoft.com/office/drawing/2018/hyperlinkcolor" val="tx"/>
                    </a:ext>
                  </a:extLst>
                </a:hlinkClick>
              </a:rPr>
              <a:t>complex data pipelines</a:t>
            </a:r>
            <a:r>
              <a:rPr lang="en" sz="1350">
                <a:solidFill>
                  <a:srgbClr val="666666"/>
                </a:solidFill>
                <a:highlight>
                  <a:srgbClr val="FFFFFF"/>
                </a:highlight>
              </a:rPr>
              <a:t> in big data systems. It enables data engineers and other users to ensure that each task in a workflow is executed in the designated order and has access to the required system resources</a:t>
            </a:r>
            <a:endParaRPr sz="1350">
              <a:solidFill>
                <a:srgbClr val="666666"/>
              </a:solidFill>
              <a:highlight>
                <a:srgbClr val="FFFFFF"/>
              </a:highlight>
            </a:endParaRPr>
          </a:p>
          <a:p>
            <a:pPr marL="457200" lvl="0"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Flink</a:t>
            </a:r>
            <a:endParaRPr sz="1350">
              <a:solidFill>
                <a:srgbClr val="666666"/>
              </a:solidFill>
              <a:highlight>
                <a:srgbClr val="FFFFFF"/>
              </a:highlight>
            </a:endParaRPr>
          </a:p>
          <a:p>
            <a:pPr marL="914400" lvl="1"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Another Apache open source technology, Flink is a </a:t>
            </a:r>
            <a:r>
              <a:rPr lang="en" sz="1350" u="sng">
                <a:solidFill>
                  <a:srgbClr val="007CAD"/>
                </a:solidFill>
                <a:highlight>
                  <a:srgbClr val="FFFFFF"/>
                </a:highlight>
                <a:hlinkClick r:id="rId4">
                  <a:extLst>
                    <a:ext uri="{A12FA001-AC4F-418D-AE19-62706E023703}">
                      <ahyp:hlinkClr xmlns:ahyp="http://schemas.microsoft.com/office/drawing/2018/hyperlinkcolor" val="tx"/>
                    </a:ext>
                  </a:extLst>
                </a:hlinkClick>
              </a:rPr>
              <a:t>stream processing framework</a:t>
            </a:r>
            <a:r>
              <a:rPr lang="en" sz="1350">
                <a:solidFill>
                  <a:srgbClr val="666666"/>
                </a:solidFill>
                <a:highlight>
                  <a:srgbClr val="FFFFFF"/>
                </a:highlight>
              </a:rPr>
              <a:t> for distributed, high-performing and always-available applications. It supports stateful computations over both bounded and unbounded data streams and can be used for batch, graph and iterative processing.</a:t>
            </a:r>
            <a:endParaRPr sz="1350">
              <a:solidFill>
                <a:srgbClr val="666666"/>
              </a:solidFill>
              <a:highlight>
                <a:srgbClr val="FFFFFF"/>
              </a:highlight>
            </a:endParaRPr>
          </a:p>
          <a:p>
            <a:pPr marL="457200" lvl="0"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Storm</a:t>
            </a:r>
            <a:endParaRPr sz="1350">
              <a:solidFill>
                <a:srgbClr val="666666"/>
              </a:solidFill>
              <a:highlight>
                <a:srgbClr val="FFFFFF"/>
              </a:highlight>
            </a:endParaRPr>
          </a:p>
          <a:p>
            <a:pPr marL="914400" lvl="1"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Another Apache open source technology, Storm is a distributed real-time computation system that's designed to reliably process unbounded streams of data. According to the project website, it can be used for applications that include real-time analytics, online machine learning and continuous computation, as well as extract, transform and load jobs.</a:t>
            </a:r>
            <a:endParaRPr sz="1350">
              <a:solidFill>
                <a:srgbClr val="666666"/>
              </a:solidFill>
              <a:highlight>
                <a:srgbClr val="FFFFFF"/>
              </a:highligh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b09b6453aa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b09b6453aa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lnSpc>
                <a:spcPct val="125000"/>
              </a:lnSpc>
              <a:spcBef>
                <a:spcPts val="1400"/>
              </a:spcBef>
              <a:spcAft>
                <a:spcPts val="0"/>
              </a:spcAft>
              <a:buClr>
                <a:srgbClr val="202124"/>
              </a:buClr>
              <a:buSzPts val="1300"/>
              <a:buChar char="●"/>
            </a:pPr>
            <a:r>
              <a:rPr lang="en" sz="1300" b="1">
                <a:solidFill>
                  <a:srgbClr val="32325D"/>
                </a:solidFill>
                <a:highlight>
                  <a:srgbClr val="FFFFFF"/>
                </a:highlight>
              </a:rPr>
              <a:t>Hadoop</a:t>
            </a:r>
            <a:endParaRPr sz="1300" b="1">
              <a:solidFill>
                <a:srgbClr val="32325D"/>
              </a:solidFill>
              <a:highlight>
                <a:srgbClr val="FFFFFF"/>
              </a:highlight>
            </a:endParaRPr>
          </a:p>
          <a:p>
            <a:pPr marL="914400" lvl="1" indent="-311150" algn="l" rtl="0">
              <a:lnSpc>
                <a:spcPct val="125000"/>
              </a:lnSpc>
              <a:spcBef>
                <a:spcPts val="0"/>
              </a:spcBef>
              <a:spcAft>
                <a:spcPts val="0"/>
              </a:spcAft>
              <a:buClr>
                <a:srgbClr val="32325D"/>
              </a:buClr>
              <a:buSzPts val="1300"/>
              <a:buChar char="○"/>
            </a:pPr>
            <a:r>
              <a:rPr lang="en" sz="1350">
                <a:solidFill>
                  <a:srgbClr val="32325D"/>
                </a:solidFill>
                <a:highlight>
                  <a:srgbClr val="FFFFFF"/>
                </a:highlight>
              </a:rPr>
              <a:t>Java-based open-source, robust, and fault-tolerant Big Data Processing platform from the Apache software foundation</a:t>
            </a:r>
            <a:endParaRPr sz="1300" b="1">
              <a:solidFill>
                <a:srgbClr val="32325D"/>
              </a:solidFill>
              <a:highlight>
                <a:srgbClr val="FFFFFF"/>
              </a:highlight>
            </a:endParaRPr>
          </a:p>
          <a:p>
            <a:pPr marL="457200" lvl="0" indent="-311150" algn="l" rtl="0">
              <a:lnSpc>
                <a:spcPct val="138461"/>
              </a:lnSpc>
              <a:spcBef>
                <a:spcPts val="0"/>
              </a:spcBef>
              <a:spcAft>
                <a:spcPts val="0"/>
              </a:spcAft>
              <a:buClr>
                <a:srgbClr val="202124"/>
              </a:buClr>
              <a:buSzPts val="1300"/>
              <a:buChar char="●"/>
            </a:pPr>
            <a:r>
              <a:rPr lang="en" sz="1300" b="1">
                <a:solidFill>
                  <a:srgbClr val="202124"/>
                </a:solidFill>
                <a:highlight>
                  <a:schemeClr val="lt1"/>
                </a:highlight>
              </a:rPr>
              <a:t>Apache Beam</a:t>
            </a:r>
            <a:endParaRPr sz="1300" b="1">
              <a:solidFill>
                <a:srgbClr val="202124"/>
              </a:solidFill>
              <a:highlight>
                <a:schemeClr val="lt1"/>
              </a:highlight>
            </a:endParaRPr>
          </a:p>
          <a:p>
            <a:pPr marL="914400" lvl="1" indent="-311150" algn="l" rtl="0">
              <a:lnSpc>
                <a:spcPct val="138461"/>
              </a:lnSpc>
              <a:spcBef>
                <a:spcPts val="0"/>
              </a:spcBef>
              <a:spcAft>
                <a:spcPts val="0"/>
              </a:spcAft>
              <a:buClr>
                <a:srgbClr val="202124"/>
              </a:buClr>
              <a:buSzPts val="1300"/>
              <a:buChar char="○"/>
            </a:pPr>
            <a:r>
              <a:rPr lang="en" sz="1350">
                <a:solidFill>
                  <a:srgbClr val="32325D"/>
                </a:solidFill>
                <a:highlight>
                  <a:srgbClr val="FFFFFF"/>
                </a:highlight>
              </a:rPr>
              <a:t>Apache Beam is an open source unified programming model to define and execute data processing pipelines, including ETL, batch and stream (continuous) processing</a:t>
            </a:r>
            <a:endParaRPr sz="1300" b="1">
              <a:solidFill>
                <a:srgbClr val="202124"/>
              </a:solidFill>
              <a:highlight>
                <a:schemeClr val="lt1"/>
              </a:highlight>
            </a:endParaRPr>
          </a:p>
          <a:p>
            <a:pPr marL="457200" lvl="0" indent="-311150" algn="l" rtl="0">
              <a:lnSpc>
                <a:spcPct val="138461"/>
              </a:lnSpc>
              <a:spcBef>
                <a:spcPts val="0"/>
              </a:spcBef>
              <a:spcAft>
                <a:spcPts val="0"/>
              </a:spcAft>
              <a:buClr>
                <a:srgbClr val="202124"/>
              </a:buClr>
              <a:buSzPts val="1300"/>
              <a:buChar char="●"/>
            </a:pPr>
            <a:r>
              <a:rPr lang="en" sz="1300" b="1">
                <a:solidFill>
                  <a:srgbClr val="202124"/>
                </a:solidFill>
                <a:highlight>
                  <a:schemeClr val="lt1"/>
                </a:highlight>
              </a:rPr>
              <a:t>Kafka</a:t>
            </a:r>
            <a:endParaRPr sz="1750" b="1">
              <a:solidFill>
                <a:srgbClr val="323232"/>
              </a:solidFill>
              <a:highlight>
                <a:srgbClr val="FFFFFF"/>
              </a:highlight>
            </a:endParaRPr>
          </a:p>
          <a:p>
            <a:pPr marL="914400" lvl="1" indent="-311150" algn="l" rtl="0">
              <a:lnSpc>
                <a:spcPct val="125000"/>
              </a:lnSpc>
              <a:spcBef>
                <a:spcPts val="0"/>
              </a:spcBef>
              <a:spcAft>
                <a:spcPts val="0"/>
              </a:spcAft>
              <a:buClr>
                <a:srgbClr val="32325D"/>
              </a:buClr>
              <a:buSzPts val="1300"/>
              <a:buChar char="○"/>
            </a:pPr>
            <a:r>
              <a:rPr lang="en" sz="1350">
                <a:solidFill>
                  <a:srgbClr val="666666"/>
                </a:solidFill>
                <a:highlight>
                  <a:srgbClr val="FFFFFF"/>
                </a:highlight>
              </a:rPr>
              <a:t>Kafka is a distributed event streaming platform</a:t>
            </a:r>
            <a:endParaRPr sz="1300" b="1">
              <a:solidFill>
                <a:srgbClr val="32325D"/>
              </a:solidFill>
              <a:highlight>
                <a:srgbClr val="FFFFFF"/>
              </a:highlight>
            </a:endParaRPr>
          </a:p>
          <a:p>
            <a:pPr marL="457200" lvl="0" indent="-314325" algn="l" rtl="0">
              <a:lnSpc>
                <a:spcPct val="125000"/>
              </a:lnSpc>
              <a:spcBef>
                <a:spcPts val="0"/>
              </a:spcBef>
              <a:spcAft>
                <a:spcPts val="0"/>
              </a:spcAft>
              <a:buClr>
                <a:schemeClr val="dk1"/>
              </a:buClr>
              <a:buSzPts val="1350"/>
              <a:buChar char="●"/>
            </a:pPr>
            <a:r>
              <a:rPr lang="en" sz="1300" b="1">
                <a:solidFill>
                  <a:srgbClr val="32325D"/>
                </a:solidFill>
                <a:highlight>
                  <a:srgbClr val="FFFFFF"/>
                </a:highlight>
              </a:rPr>
              <a:t>Apache Spark</a:t>
            </a:r>
            <a:endParaRPr sz="1300" b="1">
              <a:solidFill>
                <a:srgbClr val="32325D"/>
              </a:solidFill>
              <a:highlight>
                <a:srgbClr val="FFFFFF"/>
              </a:highlight>
            </a:endParaRPr>
          </a:p>
          <a:p>
            <a:pPr marL="914400" lvl="1" indent="-311150" algn="l" rtl="0">
              <a:lnSpc>
                <a:spcPct val="125000"/>
              </a:lnSpc>
              <a:spcBef>
                <a:spcPts val="0"/>
              </a:spcBef>
              <a:spcAft>
                <a:spcPts val="0"/>
              </a:spcAft>
              <a:buClr>
                <a:srgbClr val="32325D"/>
              </a:buClr>
              <a:buSzPts val="1300"/>
              <a:buChar char="○"/>
            </a:pPr>
            <a:r>
              <a:rPr lang="en" sz="1350">
                <a:solidFill>
                  <a:srgbClr val="666666"/>
                </a:solidFill>
                <a:highlight>
                  <a:srgbClr val="FFFFFF"/>
                </a:highlight>
              </a:rPr>
              <a:t>Apache Spark is an in-memory data processing and analytics engine that can run on clusters managed by Hadoop YARN, Mesos and Kubernetes or in a standalone mode. </a:t>
            </a:r>
            <a:endParaRPr sz="1350">
              <a:solidFill>
                <a:srgbClr val="666666"/>
              </a:solidFill>
              <a:highlight>
                <a:srgbClr val="FFFFFF"/>
              </a:highlight>
            </a:endParaRPr>
          </a:p>
          <a:p>
            <a:pPr marL="457200" lvl="0"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Airflow</a:t>
            </a:r>
            <a:endParaRPr sz="1350">
              <a:solidFill>
                <a:srgbClr val="666666"/>
              </a:solidFill>
              <a:highlight>
                <a:srgbClr val="FFFFFF"/>
              </a:highlight>
            </a:endParaRPr>
          </a:p>
          <a:p>
            <a:pPr marL="914400" lvl="1"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Airflow is a workflow management platform for scheduling and running </a:t>
            </a:r>
            <a:r>
              <a:rPr lang="en" sz="1350" u="sng">
                <a:solidFill>
                  <a:srgbClr val="007CAD"/>
                </a:solidFill>
                <a:highlight>
                  <a:srgbClr val="FFFFFF"/>
                </a:highlight>
                <a:hlinkClick r:id="rId3">
                  <a:extLst>
                    <a:ext uri="{A12FA001-AC4F-418D-AE19-62706E023703}">
                      <ahyp:hlinkClr xmlns:ahyp="http://schemas.microsoft.com/office/drawing/2018/hyperlinkcolor" val="tx"/>
                    </a:ext>
                  </a:extLst>
                </a:hlinkClick>
              </a:rPr>
              <a:t>complex data pipelines</a:t>
            </a:r>
            <a:r>
              <a:rPr lang="en" sz="1350">
                <a:solidFill>
                  <a:srgbClr val="666666"/>
                </a:solidFill>
                <a:highlight>
                  <a:srgbClr val="FFFFFF"/>
                </a:highlight>
              </a:rPr>
              <a:t> in big data systems. It enables data engineers and other users to ensure that each task in a workflow is executed in the designated order and has access to the required system resources</a:t>
            </a:r>
            <a:endParaRPr sz="1350">
              <a:solidFill>
                <a:srgbClr val="666666"/>
              </a:solidFill>
              <a:highlight>
                <a:srgbClr val="FFFFFF"/>
              </a:highlight>
            </a:endParaRPr>
          </a:p>
          <a:p>
            <a:pPr marL="457200" lvl="0"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Flink</a:t>
            </a:r>
            <a:endParaRPr sz="1350">
              <a:solidFill>
                <a:srgbClr val="666666"/>
              </a:solidFill>
              <a:highlight>
                <a:srgbClr val="FFFFFF"/>
              </a:highlight>
            </a:endParaRPr>
          </a:p>
          <a:p>
            <a:pPr marL="914400" lvl="1"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Another Apache open source technology, Flink is a </a:t>
            </a:r>
            <a:r>
              <a:rPr lang="en" sz="1350" u="sng">
                <a:solidFill>
                  <a:srgbClr val="007CAD"/>
                </a:solidFill>
                <a:highlight>
                  <a:srgbClr val="FFFFFF"/>
                </a:highlight>
                <a:hlinkClick r:id="rId4">
                  <a:extLst>
                    <a:ext uri="{A12FA001-AC4F-418D-AE19-62706E023703}">
                      <ahyp:hlinkClr xmlns:ahyp="http://schemas.microsoft.com/office/drawing/2018/hyperlinkcolor" val="tx"/>
                    </a:ext>
                  </a:extLst>
                </a:hlinkClick>
              </a:rPr>
              <a:t>stream processing framework</a:t>
            </a:r>
            <a:r>
              <a:rPr lang="en" sz="1350">
                <a:solidFill>
                  <a:srgbClr val="666666"/>
                </a:solidFill>
                <a:highlight>
                  <a:srgbClr val="FFFFFF"/>
                </a:highlight>
              </a:rPr>
              <a:t> for distributed, high-performing and always-available applications. It supports stateful computations over both bounded and unbounded data streams and can be used for batch, graph and iterative processing.</a:t>
            </a:r>
            <a:endParaRPr sz="1350">
              <a:solidFill>
                <a:srgbClr val="666666"/>
              </a:solidFill>
              <a:highlight>
                <a:srgbClr val="FFFFFF"/>
              </a:highlight>
            </a:endParaRPr>
          </a:p>
          <a:p>
            <a:pPr marL="457200" lvl="0"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Storm</a:t>
            </a:r>
            <a:endParaRPr sz="1350">
              <a:solidFill>
                <a:srgbClr val="666666"/>
              </a:solidFill>
              <a:highlight>
                <a:srgbClr val="FFFFFF"/>
              </a:highlight>
            </a:endParaRPr>
          </a:p>
          <a:p>
            <a:pPr marL="914400" lvl="1" indent="-314325" algn="l" rtl="0">
              <a:lnSpc>
                <a:spcPct val="125000"/>
              </a:lnSpc>
              <a:spcBef>
                <a:spcPts val="0"/>
              </a:spcBef>
              <a:spcAft>
                <a:spcPts val="0"/>
              </a:spcAft>
              <a:buClr>
                <a:srgbClr val="666666"/>
              </a:buClr>
              <a:buSzPts val="1350"/>
              <a:buChar char="○"/>
            </a:pPr>
            <a:r>
              <a:rPr lang="en" sz="1350">
                <a:solidFill>
                  <a:srgbClr val="666666"/>
                </a:solidFill>
                <a:highlight>
                  <a:srgbClr val="FFFFFF"/>
                </a:highlight>
              </a:rPr>
              <a:t>Another Apache open source technology, Storm is a distributed real-time computation system that's designed to reliably process unbounded streams of data. According to the project website, it can be used for applications that include real-time analytics, online machine learning and continuous computation, as well as extract, transform and load jobs.</a:t>
            </a:r>
            <a:endParaRPr sz="1350">
              <a:solidFill>
                <a:srgbClr val="666666"/>
              </a:solidFill>
              <a:highlight>
                <a:srgbClr val="FFFFFF"/>
              </a:highlight>
            </a:endParaRPr>
          </a:p>
        </p:txBody>
      </p:sp>
    </p:spTree>
    <p:extLst>
      <p:ext uri="{BB962C8B-B14F-4D97-AF65-F5344CB8AC3E}">
        <p14:creationId xmlns:p14="http://schemas.microsoft.com/office/powerpoint/2010/main" val="7481573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b187cf89d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b187cf89d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87356" y="1629550"/>
            <a:ext cx="3422400" cy="1524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987356" y="3147050"/>
            <a:ext cx="3607200" cy="3669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latin typeface="Roboto"/>
                <a:ea typeface="Roboto"/>
                <a:cs typeface="Roboto"/>
                <a:sym typeface="Roboto"/>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6"/>
          <p:cNvSpPr txBox="1">
            <a:spLocks noGrp="1"/>
          </p:cNvSpPr>
          <p:nvPr>
            <p:ph type="title"/>
          </p:nvPr>
        </p:nvSpPr>
        <p:spPr>
          <a:xfrm>
            <a:off x="457200" y="411475"/>
            <a:ext cx="8229600" cy="481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1pPr>
            <a:lvl2pPr lvl="1"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2pPr>
            <a:lvl3pPr lvl="2"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3pPr>
            <a:lvl4pPr lvl="3"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4pPr>
            <a:lvl5pPr lvl="4"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5pPr>
            <a:lvl6pPr lvl="5"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6pPr>
            <a:lvl7pPr lvl="6"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7pPr>
            <a:lvl8pPr lvl="7"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8pPr>
            <a:lvl9pPr lvl="8" algn="ctr" rtl="0">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9" name="Google Shape;29;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3" name="Google Shape;3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
        <p:cNvGrpSpPr/>
        <p:nvPr/>
      </p:nvGrpSpPr>
      <p:grpSpPr>
        <a:xfrm>
          <a:off x="0" y="0"/>
          <a:ext cx="0" cy="0"/>
          <a:chOff x="0" y="0"/>
          <a:chExt cx="0" cy="0"/>
        </a:xfrm>
      </p:grpSpPr>
      <p:sp>
        <p:nvSpPr>
          <p:cNvPr id="41" name="Google Shape;4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2" name="Google Shape;4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sp>
        <p:nvSpPr>
          <p:cNvPr id="44" name="Google Shape;4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6" name="Google Shape;4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5"/>
          <p:cNvPicPr preferRelativeResize="0"/>
          <p:nvPr/>
        </p:nvPicPr>
        <p:blipFill>
          <a:blip r:embed="rId3"/>
          <a:srcRect/>
          <a:stretch/>
        </p:blipFill>
        <p:spPr>
          <a:xfrm>
            <a:off x="-3185375" y="626942"/>
            <a:ext cx="7620375" cy="3889616"/>
          </a:xfrm>
          <a:prstGeom prst="rect">
            <a:avLst/>
          </a:prstGeom>
          <a:noFill/>
          <a:ln>
            <a:noFill/>
          </a:ln>
        </p:spPr>
      </p:pic>
      <p:sp>
        <p:nvSpPr>
          <p:cNvPr id="58" name="Google Shape;58;p15"/>
          <p:cNvSpPr txBox="1">
            <a:spLocks noGrp="1"/>
          </p:cNvSpPr>
          <p:nvPr>
            <p:ph type="ctrTitle"/>
          </p:nvPr>
        </p:nvSpPr>
        <p:spPr>
          <a:xfrm>
            <a:off x="5131032" y="1317511"/>
            <a:ext cx="3626107" cy="2766600"/>
          </a:xfrm>
          <a:prstGeom prst="rect">
            <a:avLst/>
          </a:prstGeom>
          <a:effectLst>
            <a:outerShdw blurRad="57150" dist="19050" dir="5760000" algn="bl" rotWithShape="0">
              <a:srgbClr val="000000">
                <a:alpha val="3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en-IN" sz="5500" dirty="0">
                <a:solidFill>
                  <a:schemeClr val="dk2"/>
                </a:solidFill>
              </a:rPr>
              <a:t>What Do</a:t>
            </a:r>
            <a:endParaRPr sz="5500" dirty="0">
              <a:solidFill>
                <a:schemeClr val="dk2"/>
              </a:solidFill>
            </a:endParaRPr>
          </a:p>
          <a:p>
            <a:pPr marL="0" lvl="0" indent="0" algn="l" rtl="0">
              <a:spcBef>
                <a:spcPts val="0"/>
              </a:spcBef>
              <a:spcAft>
                <a:spcPts val="0"/>
              </a:spcAft>
              <a:buNone/>
            </a:pPr>
            <a:r>
              <a:rPr lang="en" sz="5500" dirty="0">
                <a:solidFill>
                  <a:schemeClr val="dk2"/>
                </a:solidFill>
              </a:rPr>
              <a:t>You </a:t>
            </a:r>
            <a:endParaRPr sz="5500" dirty="0">
              <a:solidFill>
                <a:schemeClr val="dk2"/>
              </a:solidFill>
            </a:endParaRPr>
          </a:p>
          <a:p>
            <a:pPr marL="0" lvl="0" indent="0" algn="l" rtl="0">
              <a:spcBef>
                <a:spcPts val="0"/>
              </a:spcBef>
              <a:spcAft>
                <a:spcPts val="0"/>
              </a:spcAft>
              <a:buNone/>
            </a:pPr>
            <a:r>
              <a:rPr lang="en" sz="5500" dirty="0">
                <a:solidFill>
                  <a:srgbClr val="C00000"/>
                </a:solidFill>
              </a:rPr>
              <a:t>EXPECT</a:t>
            </a:r>
            <a:r>
              <a:rPr lang="en" sz="5500" dirty="0">
                <a:solidFill>
                  <a:schemeClr val="dk2"/>
                </a:solidFill>
              </a:rPr>
              <a:t> ?</a:t>
            </a:r>
            <a:endParaRPr sz="5500" dirty="0">
              <a:solidFill>
                <a:schemeClr val="dk2"/>
              </a:solidFill>
            </a:endParaRPr>
          </a:p>
          <a:p>
            <a:pPr marL="0" lvl="0" indent="0" algn="l" rtl="0">
              <a:spcBef>
                <a:spcPts val="0"/>
              </a:spcBef>
              <a:spcAft>
                <a:spcPts val="0"/>
              </a:spcAft>
              <a:buNone/>
            </a:pPr>
            <a:endParaRPr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4" name="Google Shape;64;p16"/>
          <p:cNvSpPr txBox="1">
            <a:spLocks noGrp="1"/>
          </p:cNvSpPr>
          <p:nvPr>
            <p:ph type="subTitle" idx="1"/>
          </p:nvPr>
        </p:nvSpPr>
        <p:spPr>
          <a:xfrm>
            <a:off x="7464244" y="4500810"/>
            <a:ext cx="36072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rgbClr val="4F3729"/>
                </a:solidFill>
              </a:rPr>
              <a:t>Arjun</a:t>
            </a:r>
            <a:endParaRPr dirty="0">
              <a:solidFill>
                <a:srgbClr val="4F3729"/>
              </a:solidFill>
            </a:endParaRPr>
          </a:p>
        </p:txBody>
      </p:sp>
      <p:sp>
        <p:nvSpPr>
          <p:cNvPr id="65" name="Google Shape;65;p16"/>
          <p:cNvSpPr/>
          <p:nvPr/>
        </p:nvSpPr>
        <p:spPr>
          <a:xfrm rot="5400000">
            <a:off x="7464244" y="3469259"/>
            <a:ext cx="692400" cy="692400"/>
          </a:xfrm>
          <a:prstGeom prst="ellipse">
            <a:avLst/>
          </a:prstGeom>
          <a:solidFill>
            <a:srgbClr val="FFFFFF"/>
          </a:solidFill>
          <a:ln w="28575" cap="flat" cmpd="sng">
            <a:solidFill>
              <a:schemeClr val="accent1"/>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endParaRPr sz="2100" b="1">
              <a:solidFill>
                <a:schemeClr val="accent1"/>
              </a:solidFill>
              <a:latin typeface="Fira Sans Extra Condensed"/>
              <a:ea typeface="Fira Sans Extra Condensed"/>
              <a:cs typeface="Fira Sans Extra Condensed"/>
              <a:sym typeface="Fira Sans Extra Condensed"/>
            </a:endParaRPr>
          </a:p>
        </p:txBody>
      </p:sp>
      <p:sp>
        <p:nvSpPr>
          <p:cNvPr id="66" name="Google Shape;66;p16"/>
          <p:cNvSpPr/>
          <p:nvPr/>
        </p:nvSpPr>
        <p:spPr>
          <a:xfrm rot="5400000">
            <a:off x="6633319" y="3469259"/>
            <a:ext cx="692400" cy="692400"/>
          </a:xfrm>
          <a:prstGeom prst="ellipse">
            <a:avLst/>
          </a:prstGeom>
          <a:solidFill>
            <a:srgbClr val="FFFFFF"/>
          </a:solidFill>
          <a:ln w="28575" cap="flat" cmpd="sng">
            <a:solidFill>
              <a:schemeClr val="accent2"/>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endParaRPr sz="2100" b="1" dirty="0">
              <a:solidFill>
                <a:schemeClr val="accent2"/>
              </a:solidFill>
              <a:latin typeface="Fira Sans Extra Condensed"/>
              <a:ea typeface="Fira Sans Extra Condensed"/>
              <a:cs typeface="Fira Sans Extra Condensed"/>
              <a:sym typeface="Fira Sans Extra Condensed"/>
            </a:endParaRPr>
          </a:p>
        </p:txBody>
      </p:sp>
      <p:sp>
        <p:nvSpPr>
          <p:cNvPr id="67" name="Google Shape;67;p16"/>
          <p:cNvSpPr/>
          <p:nvPr/>
        </p:nvSpPr>
        <p:spPr>
          <a:xfrm rot="5400000">
            <a:off x="5802394" y="3469259"/>
            <a:ext cx="692400" cy="692400"/>
          </a:xfrm>
          <a:prstGeom prst="ellipse">
            <a:avLst/>
          </a:prstGeom>
          <a:solidFill>
            <a:srgbClr val="FFFFFF"/>
          </a:solidFill>
          <a:ln w="28575" cap="flat" cmpd="sng">
            <a:solidFill>
              <a:schemeClr val="accent3"/>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endParaRPr sz="2100" b="1">
              <a:solidFill>
                <a:schemeClr val="accent3"/>
              </a:solidFill>
              <a:latin typeface="Fira Sans Extra Condensed"/>
              <a:ea typeface="Fira Sans Extra Condensed"/>
              <a:cs typeface="Fira Sans Extra Condensed"/>
              <a:sym typeface="Fira Sans Extra Condensed"/>
            </a:endParaRPr>
          </a:p>
        </p:txBody>
      </p:sp>
      <p:sp>
        <p:nvSpPr>
          <p:cNvPr id="68" name="Google Shape;68;p16"/>
          <p:cNvSpPr/>
          <p:nvPr/>
        </p:nvSpPr>
        <p:spPr>
          <a:xfrm rot="5400000">
            <a:off x="4971469" y="3469259"/>
            <a:ext cx="692400" cy="692400"/>
          </a:xfrm>
          <a:prstGeom prst="ellipse">
            <a:avLst/>
          </a:prstGeom>
          <a:solidFill>
            <a:srgbClr val="FFFFFF"/>
          </a:solidFill>
          <a:ln w="28575" cap="flat" cmpd="sng">
            <a:solidFill>
              <a:schemeClr val="accent4"/>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endParaRPr sz="2100" b="1">
              <a:solidFill>
                <a:schemeClr val="accent4"/>
              </a:solidFill>
              <a:latin typeface="Fira Sans Extra Condensed"/>
              <a:ea typeface="Fira Sans Extra Condensed"/>
              <a:cs typeface="Fira Sans Extra Condensed"/>
              <a:sym typeface="Fira Sans Extra Condensed"/>
            </a:endParaRPr>
          </a:p>
        </p:txBody>
      </p:sp>
      <p:sp>
        <p:nvSpPr>
          <p:cNvPr id="69" name="Google Shape;69;p16"/>
          <p:cNvSpPr/>
          <p:nvPr/>
        </p:nvSpPr>
        <p:spPr>
          <a:xfrm rot="5400000">
            <a:off x="5801756" y="687878"/>
            <a:ext cx="1524600" cy="1523325"/>
          </a:xfrm>
          <a:prstGeom prst="roundRect">
            <a:avLst>
              <a:gd name="adj" fmla="val 50000"/>
            </a:avLst>
          </a:prstGeom>
          <a:solidFill>
            <a:srgbClr val="FFFFFF"/>
          </a:solidFill>
          <a:ln w="28575" cap="flat" cmpd="sng">
            <a:solidFill>
              <a:srgbClr val="92D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 name="Google Shape;79;p16"/>
          <p:cNvCxnSpPr>
            <a:cxnSpLocks/>
            <a:stCxn id="69" idx="3"/>
            <a:endCxn id="68" idx="2"/>
          </p:cNvCxnSpPr>
          <p:nvPr/>
        </p:nvCxnSpPr>
        <p:spPr>
          <a:xfrm rot="5400000">
            <a:off x="5312154" y="2217357"/>
            <a:ext cx="1257418" cy="1246387"/>
          </a:xfrm>
          <a:prstGeom prst="bentConnector3">
            <a:avLst>
              <a:gd name="adj1" fmla="val 50000"/>
            </a:avLst>
          </a:prstGeom>
          <a:noFill/>
          <a:ln w="28575" cap="flat" cmpd="sng">
            <a:solidFill>
              <a:srgbClr val="92D050"/>
            </a:solidFill>
            <a:prstDash val="solid"/>
            <a:round/>
            <a:headEnd type="none" w="med" len="med"/>
            <a:tailEnd type="none" w="med" len="med"/>
          </a:ln>
        </p:spPr>
      </p:cxnSp>
      <p:cxnSp>
        <p:nvCxnSpPr>
          <p:cNvPr id="80" name="Google Shape;80;p16"/>
          <p:cNvCxnSpPr>
            <a:cxnSpLocks/>
            <a:stCxn id="69" idx="3"/>
            <a:endCxn id="67" idx="2"/>
          </p:cNvCxnSpPr>
          <p:nvPr/>
        </p:nvCxnSpPr>
        <p:spPr>
          <a:xfrm rot="5400000">
            <a:off x="5727616" y="2632819"/>
            <a:ext cx="1257418" cy="415462"/>
          </a:xfrm>
          <a:prstGeom prst="bentConnector3">
            <a:avLst>
              <a:gd name="adj1" fmla="val 50000"/>
            </a:avLst>
          </a:prstGeom>
          <a:noFill/>
          <a:ln w="28575" cap="flat" cmpd="sng">
            <a:solidFill>
              <a:srgbClr val="92D050"/>
            </a:solidFill>
            <a:prstDash val="solid"/>
            <a:round/>
            <a:headEnd type="none" w="med" len="med"/>
            <a:tailEnd type="none" w="med" len="med"/>
          </a:ln>
        </p:spPr>
      </p:cxnSp>
      <p:cxnSp>
        <p:nvCxnSpPr>
          <p:cNvPr id="81" name="Google Shape;81;p16"/>
          <p:cNvCxnSpPr>
            <a:cxnSpLocks/>
            <a:stCxn id="69" idx="3"/>
            <a:endCxn id="66" idx="2"/>
          </p:cNvCxnSpPr>
          <p:nvPr/>
        </p:nvCxnSpPr>
        <p:spPr>
          <a:xfrm rot="16200000" flipH="1">
            <a:off x="6143078" y="2632818"/>
            <a:ext cx="1257418" cy="415463"/>
          </a:xfrm>
          <a:prstGeom prst="bentConnector3">
            <a:avLst>
              <a:gd name="adj1" fmla="val 50000"/>
            </a:avLst>
          </a:prstGeom>
          <a:noFill/>
          <a:ln w="28575" cap="flat" cmpd="sng">
            <a:solidFill>
              <a:srgbClr val="92D050"/>
            </a:solidFill>
            <a:prstDash val="solid"/>
            <a:round/>
            <a:headEnd type="none" w="med" len="med"/>
            <a:tailEnd type="none" w="med" len="med"/>
          </a:ln>
        </p:spPr>
      </p:cxnSp>
      <p:cxnSp>
        <p:nvCxnSpPr>
          <p:cNvPr id="82" name="Google Shape;82;p16"/>
          <p:cNvCxnSpPr>
            <a:cxnSpLocks/>
            <a:stCxn id="69" idx="3"/>
            <a:endCxn id="65" idx="2"/>
          </p:cNvCxnSpPr>
          <p:nvPr/>
        </p:nvCxnSpPr>
        <p:spPr>
          <a:xfrm rot="16200000" flipH="1">
            <a:off x="6558541" y="2217356"/>
            <a:ext cx="1257418" cy="1246388"/>
          </a:xfrm>
          <a:prstGeom prst="bentConnector3">
            <a:avLst>
              <a:gd name="adj1" fmla="val 50000"/>
            </a:avLst>
          </a:prstGeom>
          <a:noFill/>
          <a:ln w="28575" cap="flat" cmpd="sng">
            <a:solidFill>
              <a:srgbClr val="92D050"/>
            </a:solidFill>
            <a:prstDash val="solid"/>
            <a:round/>
            <a:headEnd type="none" w="med" len="med"/>
            <a:tailEnd type="none" w="med" len="med"/>
          </a:ln>
        </p:spPr>
      </p:cxnSp>
      <p:grpSp>
        <p:nvGrpSpPr>
          <p:cNvPr id="83" name="Google Shape;83;p16"/>
          <p:cNvGrpSpPr/>
          <p:nvPr/>
        </p:nvGrpSpPr>
        <p:grpSpPr>
          <a:xfrm>
            <a:off x="5142093" y="3632583"/>
            <a:ext cx="351136" cy="365769"/>
            <a:chOff x="-65129950" y="2646800"/>
            <a:chExt cx="311125" cy="317425"/>
          </a:xfrm>
        </p:grpSpPr>
        <p:sp>
          <p:nvSpPr>
            <p:cNvPr id="84" name="Google Shape;84;p16"/>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6"/>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16"/>
          <p:cNvGrpSpPr/>
          <p:nvPr/>
        </p:nvGrpSpPr>
        <p:grpSpPr>
          <a:xfrm>
            <a:off x="5965703" y="3632603"/>
            <a:ext cx="365756" cy="365747"/>
            <a:chOff x="1412450" y="1954475"/>
            <a:chExt cx="297750" cy="296175"/>
          </a:xfrm>
        </p:grpSpPr>
        <p:sp>
          <p:nvSpPr>
            <p:cNvPr id="87" name="Google Shape;87;p16"/>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16"/>
          <p:cNvGrpSpPr/>
          <p:nvPr/>
        </p:nvGrpSpPr>
        <p:grpSpPr>
          <a:xfrm>
            <a:off x="6778473" y="3631637"/>
            <a:ext cx="393186" cy="365766"/>
            <a:chOff x="-62890750" y="2296300"/>
            <a:chExt cx="330825" cy="317450"/>
          </a:xfrm>
        </p:grpSpPr>
        <p:sp>
          <p:nvSpPr>
            <p:cNvPr id="90" name="Google Shape;90;p16"/>
            <p:cNvSpPr/>
            <p:nvPr/>
          </p:nvSpPr>
          <p:spPr>
            <a:xfrm>
              <a:off x="-62890750" y="2296300"/>
              <a:ext cx="313500" cy="195375"/>
            </a:xfrm>
            <a:custGeom>
              <a:avLst/>
              <a:gdLst/>
              <a:ahLst/>
              <a:cxnLst/>
              <a:rect l="l" t="t" r="r" b="b"/>
              <a:pathLst>
                <a:path w="12540" h="7815" extrusionOk="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6"/>
            <p:cNvSpPr/>
            <p:nvPr/>
          </p:nvSpPr>
          <p:spPr>
            <a:xfrm>
              <a:off x="-62874975" y="2417475"/>
              <a:ext cx="315050" cy="196275"/>
            </a:xfrm>
            <a:custGeom>
              <a:avLst/>
              <a:gdLst/>
              <a:ahLst/>
              <a:cxnLst/>
              <a:rect l="l" t="t" r="r" b="b"/>
              <a:pathLst>
                <a:path w="12602" h="7851" extrusionOk="0">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p:nvPr/>
          </p:nvSpPr>
          <p:spPr>
            <a:xfrm>
              <a:off x="-62822225" y="2357750"/>
              <a:ext cx="193000" cy="192975"/>
            </a:xfrm>
            <a:custGeom>
              <a:avLst/>
              <a:gdLst/>
              <a:ahLst/>
              <a:cxnLst/>
              <a:rect l="l" t="t" r="r" b="b"/>
              <a:pathLst>
                <a:path w="7720" h="7719" extrusionOk="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3;p16"/>
          <p:cNvGrpSpPr/>
          <p:nvPr/>
        </p:nvGrpSpPr>
        <p:grpSpPr>
          <a:xfrm>
            <a:off x="7627546" y="3632577"/>
            <a:ext cx="365770" cy="365770"/>
            <a:chOff x="-3137650" y="2408950"/>
            <a:chExt cx="291450" cy="292125"/>
          </a:xfrm>
        </p:grpSpPr>
        <p:sp>
          <p:nvSpPr>
            <p:cNvPr id="94" name="Google Shape;94;p16"/>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6"/>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6"/>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6"/>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305;p19">
            <a:extLst>
              <a:ext uri="{FF2B5EF4-FFF2-40B4-BE49-F238E27FC236}">
                <a16:creationId xmlns:a16="http://schemas.microsoft.com/office/drawing/2014/main" id="{81B0B0E3-B1F4-955E-1027-2AC3752E87AA}"/>
              </a:ext>
            </a:extLst>
          </p:cNvPr>
          <p:cNvGrpSpPr/>
          <p:nvPr/>
        </p:nvGrpSpPr>
        <p:grpSpPr>
          <a:xfrm>
            <a:off x="3525086" y="2357831"/>
            <a:ext cx="457186" cy="457196"/>
            <a:chOff x="-5251625" y="3272950"/>
            <a:chExt cx="292225" cy="292250"/>
          </a:xfrm>
        </p:grpSpPr>
        <p:sp>
          <p:nvSpPr>
            <p:cNvPr id="3" name="Google Shape;306;p19">
              <a:extLst>
                <a:ext uri="{FF2B5EF4-FFF2-40B4-BE49-F238E27FC236}">
                  <a16:creationId xmlns:a16="http://schemas.microsoft.com/office/drawing/2014/main" id="{00DD5991-80F3-DD35-6319-E770348DC825}"/>
                </a:ext>
              </a:extLst>
            </p:cNvPr>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07;p19">
              <a:extLst>
                <a:ext uri="{FF2B5EF4-FFF2-40B4-BE49-F238E27FC236}">
                  <a16:creationId xmlns:a16="http://schemas.microsoft.com/office/drawing/2014/main" id="{7A780C28-06FD-F2C1-699A-046C6A3151F0}"/>
                </a:ext>
              </a:extLst>
            </p:cNvPr>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08;p19">
              <a:extLst>
                <a:ext uri="{FF2B5EF4-FFF2-40B4-BE49-F238E27FC236}">
                  <a16:creationId xmlns:a16="http://schemas.microsoft.com/office/drawing/2014/main" id="{5C63B613-3E12-20B4-284B-2C474A2315E7}"/>
                </a:ext>
              </a:extLst>
            </p:cNvPr>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E14E1A5B-ED8D-6025-57A0-8A290F1B39FA}"/>
              </a:ext>
            </a:extLst>
          </p:cNvPr>
          <p:cNvPicPr>
            <a:picLocks noChangeAspect="1"/>
          </p:cNvPicPr>
          <p:nvPr/>
        </p:nvPicPr>
        <p:blipFill>
          <a:blip r:embed="rId3"/>
          <a:stretch>
            <a:fillRect/>
          </a:stretch>
        </p:blipFill>
        <p:spPr>
          <a:xfrm>
            <a:off x="3544779" y="3493925"/>
            <a:ext cx="457240" cy="457240"/>
          </a:xfrm>
          <a:prstGeom prst="rect">
            <a:avLst/>
          </a:prstGeom>
        </p:spPr>
      </p:pic>
      <p:pic>
        <p:nvPicPr>
          <p:cNvPr id="8" name="Picture 7">
            <a:extLst>
              <a:ext uri="{FF2B5EF4-FFF2-40B4-BE49-F238E27FC236}">
                <a16:creationId xmlns:a16="http://schemas.microsoft.com/office/drawing/2014/main" id="{2364058A-FF8A-8F8C-80AA-623F9F0B49DB}"/>
              </a:ext>
            </a:extLst>
          </p:cNvPr>
          <p:cNvPicPr>
            <a:picLocks noChangeAspect="1"/>
          </p:cNvPicPr>
          <p:nvPr/>
        </p:nvPicPr>
        <p:blipFill>
          <a:blip r:embed="rId4"/>
          <a:stretch>
            <a:fillRect/>
          </a:stretch>
        </p:blipFill>
        <p:spPr>
          <a:xfrm>
            <a:off x="5943403" y="790165"/>
            <a:ext cx="1148629" cy="1148629"/>
          </a:xfrm>
          <a:prstGeom prst="rect">
            <a:avLst/>
          </a:prstGeom>
        </p:spPr>
      </p:pic>
      <p:pic>
        <p:nvPicPr>
          <p:cNvPr id="10" name="Picture 9">
            <a:extLst>
              <a:ext uri="{FF2B5EF4-FFF2-40B4-BE49-F238E27FC236}">
                <a16:creationId xmlns:a16="http://schemas.microsoft.com/office/drawing/2014/main" id="{B4F3F964-378E-EE64-6081-ECE58EEC9153}"/>
              </a:ext>
            </a:extLst>
          </p:cNvPr>
          <p:cNvPicPr>
            <a:picLocks noChangeAspect="1"/>
          </p:cNvPicPr>
          <p:nvPr/>
        </p:nvPicPr>
        <p:blipFill>
          <a:blip r:embed="rId5"/>
          <a:stretch>
            <a:fillRect/>
          </a:stretch>
        </p:blipFill>
        <p:spPr>
          <a:xfrm>
            <a:off x="-426677" y="642690"/>
            <a:ext cx="5954618" cy="3858120"/>
          </a:xfrm>
          <a:prstGeom prst="rect">
            <a:avLst/>
          </a:prstGeom>
        </p:spPr>
      </p:pic>
      <p:sp>
        <p:nvSpPr>
          <p:cNvPr id="63" name="Google Shape;63;p16"/>
          <p:cNvSpPr txBox="1">
            <a:spLocks noGrp="1"/>
          </p:cNvSpPr>
          <p:nvPr>
            <p:ph type="ctrTitle"/>
          </p:nvPr>
        </p:nvSpPr>
        <p:spPr>
          <a:xfrm>
            <a:off x="948757" y="1440744"/>
            <a:ext cx="5104040" cy="136714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sz="4000" dirty="0">
                <a:solidFill>
                  <a:srgbClr val="4F3729"/>
                </a:solidFill>
              </a:rPr>
              <a:t>An Introduction to</a:t>
            </a:r>
            <a:br>
              <a:rPr lang="en-IN" sz="2800" dirty="0">
                <a:solidFill>
                  <a:schemeClr val="dk2"/>
                </a:solidFill>
              </a:rPr>
            </a:br>
            <a:endParaRPr sz="2800"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1587400" y="1033500"/>
            <a:ext cx="3355800" cy="378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What</a:t>
            </a:r>
            <a:r>
              <a:rPr lang="en" sz="3800" dirty="0">
                <a:solidFill>
                  <a:schemeClr val="dk1"/>
                </a:solidFill>
              </a:rPr>
              <a:t> </a:t>
            </a:r>
            <a:r>
              <a:rPr lang="en" sz="3800" dirty="0">
                <a:solidFill>
                  <a:schemeClr val="accent4"/>
                </a:solidFill>
              </a:rPr>
              <a:t>?</a:t>
            </a:r>
            <a:endParaRPr sz="3800" dirty="0">
              <a:solidFill>
                <a:schemeClr val="accent4"/>
              </a:solidFill>
            </a:endParaRPr>
          </a:p>
          <a:p>
            <a:pPr marL="0" lvl="0" indent="0" algn="l" rtl="0">
              <a:spcBef>
                <a:spcPts val="0"/>
              </a:spcBef>
              <a:spcAft>
                <a:spcPts val="0"/>
              </a:spcAft>
              <a:buNone/>
            </a:pPr>
            <a:endParaRPr sz="3800" dirty="0">
              <a:solidFill>
                <a:schemeClr val="accent6"/>
              </a:solidFill>
            </a:endParaRPr>
          </a:p>
          <a:p>
            <a:pPr marL="0" lvl="0" indent="0" algn="l" rtl="0">
              <a:spcBef>
                <a:spcPts val="0"/>
              </a:spcBef>
              <a:spcAft>
                <a:spcPts val="0"/>
              </a:spcAft>
              <a:buNone/>
            </a:pPr>
            <a:r>
              <a:rPr lang="en" sz="3800" dirty="0">
                <a:solidFill>
                  <a:schemeClr val="accent4"/>
                </a:solidFill>
              </a:rPr>
              <a:t>Who ?</a:t>
            </a:r>
            <a:endParaRPr sz="3800" dirty="0">
              <a:solidFill>
                <a:schemeClr val="accent4"/>
              </a:solidFill>
            </a:endParaRPr>
          </a:p>
          <a:p>
            <a:pPr marL="0" lvl="0" indent="0" algn="l" rtl="0">
              <a:spcBef>
                <a:spcPts val="0"/>
              </a:spcBef>
              <a:spcAft>
                <a:spcPts val="0"/>
              </a:spcAft>
              <a:buNone/>
            </a:pPr>
            <a:endParaRPr sz="3800" dirty="0">
              <a:solidFill>
                <a:schemeClr val="accent6"/>
              </a:solidFill>
            </a:endParaRPr>
          </a:p>
          <a:p>
            <a:pPr marL="0" lvl="0" indent="0" algn="l" rtl="0">
              <a:spcBef>
                <a:spcPts val="0"/>
              </a:spcBef>
              <a:spcAft>
                <a:spcPts val="0"/>
              </a:spcAft>
              <a:buNone/>
            </a:pPr>
            <a:r>
              <a:rPr lang="en" sz="3800" dirty="0">
                <a:solidFill>
                  <a:schemeClr val="accent4"/>
                </a:solidFill>
              </a:rPr>
              <a:t>Secure ?</a:t>
            </a:r>
            <a:endParaRPr sz="3800" dirty="0">
              <a:solidFill>
                <a:schemeClr val="accent4"/>
              </a:solidFill>
            </a:endParaRPr>
          </a:p>
          <a:p>
            <a:pPr marL="0" lvl="0" indent="0" algn="l" rtl="0">
              <a:spcBef>
                <a:spcPts val="0"/>
              </a:spcBef>
              <a:spcAft>
                <a:spcPts val="0"/>
              </a:spcAft>
              <a:buNone/>
            </a:pPr>
            <a:endParaRPr sz="3800" dirty="0">
              <a:solidFill>
                <a:schemeClr val="accent6"/>
              </a:solidFill>
            </a:endParaRPr>
          </a:p>
          <a:p>
            <a:pPr marL="0" lvl="0" indent="0" algn="l" rtl="0">
              <a:spcBef>
                <a:spcPts val="0"/>
              </a:spcBef>
              <a:spcAft>
                <a:spcPts val="0"/>
              </a:spcAft>
              <a:buClr>
                <a:schemeClr val="dk1"/>
              </a:buClr>
              <a:buSzPts val="1100"/>
              <a:buFont typeface="Arial"/>
              <a:buNone/>
            </a:pPr>
            <a:endParaRPr sz="3800" dirty="0">
              <a:solidFill>
                <a:schemeClr val="accent6"/>
              </a:solidFill>
            </a:endParaRPr>
          </a:p>
        </p:txBody>
      </p:sp>
      <p:sp>
        <p:nvSpPr>
          <p:cNvPr id="111" name="Google Shape;111;p17"/>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AAAAAA"/>
                </a:solidFill>
              </a:rPr>
              <a:t>Questions to be addressed</a:t>
            </a:r>
            <a:endParaRPr>
              <a:solidFill>
                <a:srgbClr val="AAAAAA"/>
              </a:solidFill>
            </a:endParaRPr>
          </a:p>
        </p:txBody>
      </p:sp>
      <p:sp>
        <p:nvSpPr>
          <p:cNvPr id="112" name="Google Shape;112;p17"/>
          <p:cNvSpPr txBox="1">
            <a:spLocks noGrp="1"/>
          </p:cNvSpPr>
          <p:nvPr>
            <p:ph type="title"/>
          </p:nvPr>
        </p:nvSpPr>
        <p:spPr>
          <a:xfrm>
            <a:off x="2048300" y="1039775"/>
            <a:ext cx="5091054" cy="378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sz="3800" dirty="0">
              <a:solidFill>
                <a:schemeClr val="accent4"/>
              </a:solidFill>
            </a:endParaRPr>
          </a:p>
          <a:p>
            <a:pPr marL="0" lvl="0" indent="0" algn="l" rtl="0">
              <a:spcBef>
                <a:spcPts val="0"/>
              </a:spcBef>
              <a:spcAft>
                <a:spcPts val="0"/>
              </a:spcAft>
              <a:buNone/>
            </a:pPr>
            <a:r>
              <a:rPr lang="en" sz="3800" dirty="0">
                <a:solidFill>
                  <a:schemeClr val="accent6"/>
                </a:solidFill>
              </a:rPr>
              <a:t>When ?</a:t>
            </a:r>
            <a:endParaRPr sz="3800" dirty="0">
              <a:solidFill>
                <a:schemeClr val="accent6"/>
              </a:solidFill>
            </a:endParaRPr>
          </a:p>
          <a:p>
            <a:pPr marL="0" lvl="0" indent="0" algn="l" rtl="0">
              <a:spcBef>
                <a:spcPts val="0"/>
              </a:spcBef>
              <a:spcAft>
                <a:spcPts val="0"/>
              </a:spcAft>
              <a:buNone/>
            </a:pPr>
            <a:endParaRPr sz="3800" dirty="0">
              <a:solidFill>
                <a:schemeClr val="accent4"/>
              </a:solidFill>
            </a:endParaRPr>
          </a:p>
          <a:p>
            <a:pPr marL="0" lvl="0" indent="0" algn="l" rtl="0">
              <a:spcBef>
                <a:spcPts val="0"/>
              </a:spcBef>
              <a:spcAft>
                <a:spcPts val="0"/>
              </a:spcAft>
              <a:buNone/>
            </a:pPr>
            <a:r>
              <a:rPr lang="en" sz="3800" dirty="0">
                <a:solidFill>
                  <a:schemeClr val="accent6"/>
                </a:solidFill>
              </a:rPr>
              <a:t>How ?</a:t>
            </a:r>
            <a:endParaRPr sz="3800" dirty="0">
              <a:solidFill>
                <a:schemeClr val="accent6"/>
              </a:solidFill>
            </a:endParaRPr>
          </a:p>
          <a:p>
            <a:pPr marL="0" lvl="0" indent="0" algn="l" rtl="0">
              <a:spcBef>
                <a:spcPts val="0"/>
              </a:spcBef>
              <a:spcAft>
                <a:spcPts val="0"/>
              </a:spcAft>
              <a:buNone/>
            </a:pPr>
            <a:endParaRPr sz="3800" dirty="0">
              <a:solidFill>
                <a:schemeClr val="accent4"/>
              </a:solidFill>
            </a:endParaRPr>
          </a:p>
          <a:p>
            <a:pPr marL="0" lvl="0" indent="0" algn="l" rtl="0">
              <a:spcBef>
                <a:spcPts val="0"/>
              </a:spcBef>
              <a:spcAft>
                <a:spcPts val="0"/>
              </a:spcAft>
              <a:buNone/>
            </a:pPr>
            <a:r>
              <a:rPr lang="en" sz="3800" dirty="0">
                <a:solidFill>
                  <a:schemeClr val="accent6"/>
                </a:solidFill>
              </a:rPr>
              <a:t>Other important stuff !</a:t>
            </a:r>
            <a:endParaRPr sz="3800" dirty="0">
              <a:solidFill>
                <a:schemeClr val="accent6"/>
              </a:solidFill>
            </a:endParaRPr>
          </a:p>
          <a:p>
            <a:pPr marL="0" lvl="0" indent="0" algn="l" rtl="0">
              <a:spcBef>
                <a:spcPts val="0"/>
              </a:spcBef>
              <a:spcAft>
                <a:spcPts val="0"/>
              </a:spcAft>
              <a:buClr>
                <a:schemeClr val="dk1"/>
              </a:buClr>
              <a:buSzPts val="1100"/>
              <a:buFont typeface="Arial"/>
              <a:buNone/>
            </a:pPr>
            <a:endParaRPr sz="3800" dirty="0">
              <a:solidFill>
                <a:schemeClr val="accent6"/>
              </a:solidFill>
            </a:endParaRPr>
          </a:p>
        </p:txBody>
      </p:sp>
      <p:sp>
        <p:nvSpPr>
          <p:cNvPr id="113" name="Google Shape;113;p17"/>
          <p:cNvSpPr txBox="1">
            <a:spLocks noGrp="1"/>
          </p:cNvSpPr>
          <p:nvPr>
            <p:ph type="title"/>
          </p:nvPr>
        </p:nvSpPr>
        <p:spPr>
          <a:xfrm>
            <a:off x="4374996" y="1500267"/>
            <a:ext cx="3865200" cy="15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9600" dirty="0">
                <a:solidFill>
                  <a:schemeClr val="accent4"/>
                </a:solidFill>
              </a:rPr>
              <a:t>Why ?</a:t>
            </a:r>
            <a:endParaRPr sz="9600" dirty="0">
              <a:solidFill>
                <a:schemeClr val="accent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17"/>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Questions to be addressed</a:t>
            </a:r>
            <a:endParaRPr dirty="0">
              <a:solidFill>
                <a:srgbClr val="AAAAAA"/>
              </a:solidFill>
            </a:endParaRPr>
          </a:p>
        </p:txBody>
      </p:sp>
      <p:sp>
        <p:nvSpPr>
          <p:cNvPr id="113" name="Google Shape;113;p17"/>
          <p:cNvSpPr txBox="1">
            <a:spLocks noGrp="1"/>
          </p:cNvSpPr>
          <p:nvPr>
            <p:ph type="title"/>
          </p:nvPr>
        </p:nvSpPr>
        <p:spPr>
          <a:xfrm>
            <a:off x="4374996" y="1500267"/>
            <a:ext cx="3865200" cy="15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9600" dirty="0">
                <a:solidFill>
                  <a:schemeClr val="accent4"/>
                </a:solidFill>
              </a:rPr>
              <a:t>Why ?</a:t>
            </a:r>
            <a:endParaRPr sz="9600" dirty="0">
              <a:solidFill>
                <a:schemeClr val="accent4"/>
              </a:solidFill>
            </a:endParaRPr>
          </a:p>
        </p:txBody>
      </p:sp>
    </p:spTree>
    <p:extLst>
      <p:ext uri="{BB962C8B-B14F-4D97-AF65-F5344CB8AC3E}">
        <p14:creationId xmlns:p14="http://schemas.microsoft.com/office/powerpoint/2010/main" val="2146948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17"/>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AAAAAA"/>
                </a:solidFill>
              </a:rPr>
              <a:t>Questions to be addressed</a:t>
            </a:r>
            <a:endParaRPr>
              <a:solidFill>
                <a:srgbClr val="AAAAAA"/>
              </a:solidFill>
            </a:endParaRPr>
          </a:p>
        </p:txBody>
      </p:sp>
      <p:sp>
        <p:nvSpPr>
          <p:cNvPr id="113" name="Google Shape;113;p17"/>
          <p:cNvSpPr txBox="1">
            <a:spLocks noGrp="1"/>
          </p:cNvSpPr>
          <p:nvPr>
            <p:ph type="title"/>
          </p:nvPr>
        </p:nvSpPr>
        <p:spPr>
          <a:xfrm>
            <a:off x="745067" y="1500267"/>
            <a:ext cx="7495129" cy="15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9600" dirty="0">
                <a:solidFill>
                  <a:schemeClr val="accent4"/>
                </a:solidFill>
              </a:rPr>
              <a:t>       Why </a:t>
            </a:r>
            <a:r>
              <a:rPr lang="en" sz="4400" dirty="0">
                <a:solidFill>
                  <a:schemeClr val="accent6"/>
                </a:solidFill>
              </a:rPr>
              <a:t>NoSQL </a:t>
            </a:r>
            <a:r>
              <a:rPr lang="en" sz="4400" dirty="0">
                <a:solidFill>
                  <a:schemeClr val="accent4"/>
                </a:solidFill>
              </a:rPr>
              <a:t> </a:t>
            </a:r>
            <a:r>
              <a:rPr lang="en" sz="9600" dirty="0">
                <a:solidFill>
                  <a:schemeClr val="accent4"/>
                </a:solidFill>
              </a:rPr>
              <a:t>?</a:t>
            </a:r>
            <a:endParaRPr sz="9600" dirty="0">
              <a:solidFill>
                <a:schemeClr val="accent4"/>
              </a:solidFill>
            </a:endParaRPr>
          </a:p>
        </p:txBody>
      </p:sp>
    </p:spTree>
    <p:extLst>
      <p:ext uri="{BB962C8B-B14F-4D97-AF65-F5344CB8AC3E}">
        <p14:creationId xmlns:p14="http://schemas.microsoft.com/office/powerpoint/2010/main" val="204505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3" name="Google Shape;113;p17"/>
          <p:cNvSpPr txBox="1">
            <a:spLocks noGrp="1"/>
          </p:cNvSpPr>
          <p:nvPr>
            <p:ph type="title"/>
          </p:nvPr>
        </p:nvSpPr>
        <p:spPr>
          <a:xfrm>
            <a:off x="395112" y="1500267"/>
            <a:ext cx="7495129" cy="1572300"/>
          </a:xfrm>
          <a:prstGeom prst="rect">
            <a:avLst/>
          </a:prstGeom>
        </p:spPr>
        <p:txBody>
          <a:bodyPr spcFirstLastPara="1" wrap="square" lIns="91425" tIns="91425" rIns="91425" bIns="91425" anchor="ctr" anchorCtr="0">
            <a:noAutofit/>
          </a:bodyPr>
          <a:lstStyle/>
          <a:p>
            <a:pPr marL="0" lvl="0" indent="0" rtl="0">
              <a:spcBef>
                <a:spcPts val="0"/>
              </a:spcBef>
              <a:spcAft>
                <a:spcPts val="0"/>
              </a:spcAft>
              <a:buClr>
                <a:schemeClr val="dk1"/>
              </a:buClr>
              <a:buSzPts val="1100"/>
              <a:buFont typeface="Arial"/>
              <a:buNone/>
            </a:pPr>
            <a:r>
              <a:rPr lang="en" sz="9600" dirty="0">
                <a:solidFill>
                  <a:schemeClr val="accent4"/>
                </a:solidFill>
              </a:rPr>
              <a:t>A Sample Problem</a:t>
            </a:r>
            <a:endParaRPr sz="9600" dirty="0">
              <a:solidFill>
                <a:schemeClr val="accent4"/>
              </a:solidFill>
            </a:endParaRPr>
          </a:p>
        </p:txBody>
      </p:sp>
    </p:spTree>
    <p:extLst>
      <p:ext uri="{BB962C8B-B14F-4D97-AF65-F5344CB8AC3E}">
        <p14:creationId xmlns:p14="http://schemas.microsoft.com/office/powerpoint/2010/main" val="46604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17"/>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The Problem : RDBMS Traditional problem</a:t>
            </a:r>
            <a:endParaRPr dirty="0">
              <a:solidFill>
                <a:srgbClr val="AAAAAA"/>
              </a:solidFill>
            </a:endParaRPr>
          </a:p>
        </p:txBody>
      </p:sp>
      <p:pic>
        <p:nvPicPr>
          <p:cNvPr id="5" name="Picture 4">
            <a:extLst>
              <a:ext uri="{FF2B5EF4-FFF2-40B4-BE49-F238E27FC236}">
                <a16:creationId xmlns:a16="http://schemas.microsoft.com/office/drawing/2014/main" id="{F0B3D71A-26B5-DE35-5AB2-694E654F7E24}"/>
              </a:ext>
            </a:extLst>
          </p:cNvPr>
          <p:cNvPicPr>
            <a:picLocks noChangeAspect="1"/>
          </p:cNvPicPr>
          <p:nvPr/>
        </p:nvPicPr>
        <p:blipFill>
          <a:blip r:embed="rId3"/>
          <a:stretch>
            <a:fillRect/>
          </a:stretch>
        </p:blipFill>
        <p:spPr>
          <a:xfrm>
            <a:off x="969017" y="1117314"/>
            <a:ext cx="6348010" cy="3337849"/>
          </a:xfrm>
          <a:prstGeom prst="rect">
            <a:avLst/>
          </a:prstGeom>
        </p:spPr>
      </p:pic>
    </p:spTree>
    <p:extLst>
      <p:ext uri="{BB962C8B-B14F-4D97-AF65-F5344CB8AC3E}">
        <p14:creationId xmlns:p14="http://schemas.microsoft.com/office/powerpoint/2010/main" val="2607417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17"/>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The Problem : RDBMS Traditional problem</a:t>
            </a:r>
            <a:endParaRPr dirty="0">
              <a:solidFill>
                <a:srgbClr val="AAAAAA"/>
              </a:solidFill>
            </a:endParaRPr>
          </a:p>
        </p:txBody>
      </p:sp>
      <p:pic>
        <p:nvPicPr>
          <p:cNvPr id="5" name="Picture 4">
            <a:extLst>
              <a:ext uri="{FF2B5EF4-FFF2-40B4-BE49-F238E27FC236}">
                <a16:creationId xmlns:a16="http://schemas.microsoft.com/office/drawing/2014/main" id="{F0B3D71A-26B5-DE35-5AB2-694E654F7E24}"/>
              </a:ext>
            </a:extLst>
          </p:cNvPr>
          <p:cNvPicPr>
            <a:picLocks noChangeAspect="1"/>
          </p:cNvPicPr>
          <p:nvPr/>
        </p:nvPicPr>
        <p:blipFill>
          <a:blip r:embed="rId3"/>
          <a:stretch>
            <a:fillRect/>
          </a:stretch>
        </p:blipFill>
        <p:spPr>
          <a:xfrm>
            <a:off x="969017" y="1117314"/>
            <a:ext cx="6348010" cy="3337849"/>
          </a:xfrm>
          <a:prstGeom prst="rect">
            <a:avLst/>
          </a:prstGeom>
        </p:spPr>
      </p:pic>
      <p:pic>
        <p:nvPicPr>
          <p:cNvPr id="3" name="Picture 2">
            <a:extLst>
              <a:ext uri="{FF2B5EF4-FFF2-40B4-BE49-F238E27FC236}">
                <a16:creationId xmlns:a16="http://schemas.microsoft.com/office/drawing/2014/main" id="{CAC9297B-A04C-C009-4E0F-6EE23F36E2EA}"/>
              </a:ext>
            </a:extLst>
          </p:cNvPr>
          <p:cNvPicPr>
            <a:picLocks noChangeAspect="1"/>
          </p:cNvPicPr>
          <p:nvPr/>
        </p:nvPicPr>
        <p:blipFill>
          <a:blip r:embed="rId4"/>
          <a:stretch>
            <a:fillRect/>
          </a:stretch>
        </p:blipFill>
        <p:spPr>
          <a:xfrm>
            <a:off x="969017" y="1117314"/>
            <a:ext cx="6348010" cy="3337849"/>
          </a:xfrm>
          <a:prstGeom prst="rect">
            <a:avLst/>
          </a:prstGeom>
        </p:spPr>
      </p:pic>
    </p:spTree>
    <p:extLst>
      <p:ext uri="{BB962C8B-B14F-4D97-AF65-F5344CB8AC3E}">
        <p14:creationId xmlns:p14="http://schemas.microsoft.com/office/powerpoint/2010/main" val="2101123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17"/>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The solution : RDBMS Traditional problem</a:t>
            </a:r>
            <a:endParaRPr dirty="0">
              <a:solidFill>
                <a:srgbClr val="AAAAAA"/>
              </a:solidFill>
            </a:endParaRPr>
          </a:p>
        </p:txBody>
      </p:sp>
      <p:pic>
        <p:nvPicPr>
          <p:cNvPr id="5" name="Picture 4">
            <a:extLst>
              <a:ext uri="{FF2B5EF4-FFF2-40B4-BE49-F238E27FC236}">
                <a16:creationId xmlns:a16="http://schemas.microsoft.com/office/drawing/2014/main" id="{F0B3D71A-26B5-DE35-5AB2-694E654F7E24}"/>
              </a:ext>
            </a:extLst>
          </p:cNvPr>
          <p:cNvPicPr>
            <a:picLocks noChangeAspect="1"/>
          </p:cNvPicPr>
          <p:nvPr/>
        </p:nvPicPr>
        <p:blipFill>
          <a:blip r:embed="rId3"/>
          <a:stretch>
            <a:fillRect/>
          </a:stretch>
        </p:blipFill>
        <p:spPr>
          <a:xfrm>
            <a:off x="969017" y="1117314"/>
            <a:ext cx="6348010" cy="3337849"/>
          </a:xfrm>
          <a:prstGeom prst="rect">
            <a:avLst/>
          </a:prstGeom>
        </p:spPr>
      </p:pic>
      <p:pic>
        <p:nvPicPr>
          <p:cNvPr id="3" name="Picture 2">
            <a:extLst>
              <a:ext uri="{FF2B5EF4-FFF2-40B4-BE49-F238E27FC236}">
                <a16:creationId xmlns:a16="http://schemas.microsoft.com/office/drawing/2014/main" id="{CAC9297B-A04C-C009-4E0F-6EE23F36E2EA}"/>
              </a:ext>
            </a:extLst>
          </p:cNvPr>
          <p:cNvPicPr>
            <a:picLocks noChangeAspect="1"/>
          </p:cNvPicPr>
          <p:nvPr/>
        </p:nvPicPr>
        <p:blipFill>
          <a:blip r:embed="rId4"/>
          <a:stretch>
            <a:fillRect/>
          </a:stretch>
        </p:blipFill>
        <p:spPr>
          <a:xfrm>
            <a:off x="969017" y="1117314"/>
            <a:ext cx="6348010" cy="3337849"/>
          </a:xfrm>
          <a:prstGeom prst="rect">
            <a:avLst/>
          </a:prstGeom>
        </p:spPr>
      </p:pic>
      <p:pic>
        <p:nvPicPr>
          <p:cNvPr id="4" name="Picture 3">
            <a:extLst>
              <a:ext uri="{FF2B5EF4-FFF2-40B4-BE49-F238E27FC236}">
                <a16:creationId xmlns:a16="http://schemas.microsoft.com/office/drawing/2014/main" id="{B81C88EC-975C-9C71-0D49-2A57687FB60B}"/>
              </a:ext>
            </a:extLst>
          </p:cNvPr>
          <p:cNvPicPr>
            <a:picLocks noChangeAspect="1"/>
          </p:cNvPicPr>
          <p:nvPr/>
        </p:nvPicPr>
        <p:blipFill>
          <a:blip r:embed="rId5"/>
          <a:stretch>
            <a:fillRect/>
          </a:stretch>
        </p:blipFill>
        <p:spPr>
          <a:xfrm>
            <a:off x="969016" y="1117314"/>
            <a:ext cx="6348009" cy="3412834"/>
          </a:xfrm>
          <a:prstGeom prst="rect">
            <a:avLst/>
          </a:prstGeom>
        </p:spPr>
      </p:pic>
    </p:spTree>
    <p:extLst>
      <p:ext uri="{BB962C8B-B14F-4D97-AF65-F5344CB8AC3E}">
        <p14:creationId xmlns:p14="http://schemas.microsoft.com/office/powerpoint/2010/main" val="2347738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3" name="Google Shape;113;p17"/>
          <p:cNvSpPr txBox="1">
            <a:spLocks noGrp="1"/>
          </p:cNvSpPr>
          <p:nvPr>
            <p:ph type="title"/>
          </p:nvPr>
        </p:nvSpPr>
        <p:spPr>
          <a:xfrm>
            <a:off x="699912" y="1500267"/>
            <a:ext cx="7495129" cy="1572300"/>
          </a:xfrm>
          <a:prstGeom prst="rect">
            <a:avLst/>
          </a:prstGeom>
        </p:spPr>
        <p:txBody>
          <a:bodyPr spcFirstLastPara="1" wrap="square" lIns="91425" tIns="91425" rIns="91425" bIns="91425" anchor="ctr" anchorCtr="0">
            <a:noAutofit/>
          </a:bodyPr>
          <a:lstStyle/>
          <a:p>
            <a:pPr marL="0" lvl="0" indent="0" rtl="0">
              <a:spcBef>
                <a:spcPts val="0"/>
              </a:spcBef>
              <a:spcAft>
                <a:spcPts val="0"/>
              </a:spcAft>
              <a:buClr>
                <a:schemeClr val="dk1"/>
              </a:buClr>
              <a:buSzPts val="1100"/>
              <a:buFont typeface="Arial"/>
              <a:buNone/>
            </a:pPr>
            <a:r>
              <a:rPr lang="en" sz="8000" dirty="0">
                <a:solidFill>
                  <a:schemeClr val="accent4"/>
                </a:solidFill>
              </a:rPr>
              <a:t>But JOINs Are</a:t>
            </a:r>
            <a:r>
              <a:rPr lang="en" sz="9600" dirty="0">
                <a:solidFill>
                  <a:schemeClr val="accent4"/>
                </a:solidFill>
              </a:rPr>
              <a:t> </a:t>
            </a:r>
            <a:r>
              <a:rPr lang="en" sz="8000" dirty="0">
                <a:solidFill>
                  <a:schemeClr val="accent4"/>
                </a:solidFill>
              </a:rPr>
              <a:t>Always </a:t>
            </a:r>
            <a:br>
              <a:rPr lang="en" sz="8000" dirty="0">
                <a:solidFill>
                  <a:schemeClr val="accent4"/>
                </a:solidFill>
              </a:rPr>
            </a:br>
            <a:r>
              <a:rPr lang="en" sz="8800" dirty="0">
                <a:solidFill>
                  <a:srgbClr val="C00000"/>
                </a:solidFill>
                <a:latin typeface="Fira Sans Extra Condensed SemiBold"/>
                <a:sym typeface="Fira Sans Extra Condensed SemiBold"/>
              </a:rPr>
              <a:t>Expensive</a:t>
            </a:r>
            <a:endParaRPr sz="8800" dirty="0">
              <a:solidFill>
                <a:srgbClr val="C00000"/>
              </a:solidFill>
              <a:latin typeface="Fira Sans Extra Condensed SemiBold"/>
              <a:sym typeface="Fira Sans Extra Condensed SemiBold"/>
            </a:endParaRPr>
          </a:p>
        </p:txBody>
      </p:sp>
    </p:spTree>
    <p:extLst>
      <p:ext uri="{BB962C8B-B14F-4D97-AF65-F5344CB8AC3E}">
        <p14:creationId xmlns:p14="http://schemas.microsoft.com/office/powerpoint/2010/main" val="821425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998125" y="995117"/>
            <a:ext cx="4962408"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What </a:t>
            </a:r>
            <a:r>
              <a:rPr lang="en" sz="3800" dirty="0">
                <a:solidFill>
                  <a:schemeClr val="tx1"/>
                </a:solidFill>
              </a:rPr>
              <a:t>is</a:t>
            </a:r>
            <a:r>
              <a:rPr lang="en" sz="3800" dirty="0">
                <a:solidFill>
                  <a:schemeClr val="dk1"/>
                </a:solidFill>
              </a:rPr>
              <a:t> NoSQL</a:t>
            </a:r>
            <a:endParaRPr sz="3800" dirty="0">
              <a:solidFill>
                <a:schemeClr val="dk1"/>
              </a:solidFill>
            </a:endParaRPr>
          </a:p>
        </p:txBody>
      </p:sp>
      <p:sp>
        <p:nvSpPr>
          <p:cNvPr id="119" name="Google Shape;119;p18"/>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The Solution : Introduction</a:t>
            </a:r>
            <a:endParaRPr dirty="0">
              <a:solidFill>
                <a:srgbClr val="AAAAAA"/>
              </a:solidFill>
            </a:endParaRPr>
          </a:p>
        </p:txBody>
      </p:sp>
      <p:sp>
        <p:nvSpPr>
          <p:cNvPr id="120" name="Google Shape;120;p18"/>
          <p:cNvSpPr txBox="1"/>
          <p:nvPr/>
        </p:nvSpPr>
        <p:spPr>
          <a:xfrm>
            <a:off x="998125" y="1857758"/>
            <a:ext cx="6027900" cy="48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US" sz="1350" dirty="0">
                <a:solidFill>
                  <a:schemeClr val="dk1"/>
                </a:solidFill>
                <a:highlight>
                  <a:srgbClr val="FFFFFF"/>
                </a:highlight>
              </a:rPr>
              <a:t>NoSQL databases use a variety of data models for accessing and managing data. These types of databases are optimized specifically for applications that require flexible data models, large data volume, and low latency, which are achieved by relaxing some of the data consistency restrictions of relational databases.</a:t>
            </a:r>
            <a:endParaRPr sz="15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21" name="Google Shape;121;p18"/>
          <p:cNvSpPr txBox="1"/>
          <p:nvPr/>
        </p:nvSpPr>
        <p:spPr>
          <a:xfrm>
            <a:off x="1034343" y="3175007"/>
            <a:ext cx="6027900" cy="1020600"/>
          </a:xfrm>
          <a:prstGeom prst="rect">
            <a:avLst/>
          </a:prstGeom>
          <a:noFill/>
          <a:ln>
            <a:noFill/>
          </a:ln>
        </p:spPr>
        <p:txBody>
          <a:bodyPr spcFirstLastPara="1" wrap="square" lIns="91425" tIns="91425" rIns="91425" bIns="91425" anchor="ctr" anchorCtr="0">
            <a:noAutofit/>
          </a:bodyPr>
          <a:lstStyle/>
          <a:p>
            <a:pPr lvl="0">
              <a:buSzPts val="1100"/>
            </a:pPr>
            <a:r>
              <a:rPr lang="en-IN" sz="1350" dirty="0">
                <a:solidFill>
                  <a:schemeClr val="dk1"/>
                </a:solidFill>
              </a:rPr>
              <a:t>MongoDB is a source-available, cross-platform, document-oriented database program. Classified as a NoSQL database product, MongoDB utilizes JSON-like documents with optional schemas. MongoDB is developed by MongoDB Inc. and current versions are licensed under the Server Side Public License</a:t>
            </a:r>
            <a:endParaRPr sz="1500" dirty="0">
              <a:solidFill>
                <a:schemeClr val="dk1"/>
              </a:solidFill>
              <a:latin typeface="Fira Sans Extra Condensed Medium"/>
              <a:ea typeface="Fira Sans Extra Condensed Medium"/>
              <a:cs typeface="Fira Sans Extra Condensed Medium"/>
              <a:sym typeface="Fira Sans Extra Condensed Medium"/>
            </a:endParaRPr>
          </a:p>
        </p:txBody>
      </p:sp>
      <p:grpSp>
        <p:nvGrpSpPr>
          <p:cNvPr id="122" name="Google Shape;122;p18"/>
          <p:cNvGrpSpPr/>
          <p:nvPr/>
        </p:nvGrpSpPr>
        <p:grpSpPr>
          <a:xfrm>
            <a:off x="7467458" y="1398823"/>
            <a:ext cx="2053848" cy="1847242"/>
            <a:chOff x="-1333200" y="2770450"/>
            <a:chExt cx="291450" cy="292225"/>
          </a:xfrm>
        </p:grpSpPr>
        <p:sp>
          <p:nvSpPr>
            <p:cNvPr id="123" name="Google Shape;123;p18"/>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8"/>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8"/>
          <p:cNvSpPr txBox="1">
            <a:spLocks noGrp="1"/>
          </p:cNvSpPr>
          <p:nvPr>
            <p:ph type="title"/>
          </p:nvPr>
        </p:nvSpPr>
        <p:spPr>
          <a:xfrm>
            <a:off x="998125" y="2718037"/>
            <a:ext cx="33558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What</a:t>
            </a:r>
            <a:r>
              <a:rPr lang="en" sz="3800" dirty="0">
                <a:solidFill>
                  <a:schemeClr val="dk1"/>
                </a:solidFill>
              </a:rPr>
              <a:t> is </a:t>
            </a:r>
            <a:r>
              <a:rPr lang="en" sz="3800" dirty="0">
                <a:solidFill>
                  <a:srgbClr val="216D8C"/>
                </a:solidFill>
              </a:rPr>
              <a:t>MongoDB</a:t>
            </a:r>
            <a:endParaRPr sz="3800" dirty="0">
              <a:solidFill>
                <a:schemeClr val="dk1"/>
              </a:solidFill>
            </a:endParaRPr>
          </a:p>
        </p:txBody>
      </p:sp>
    </p:spTree>
    <p:extLst>
      <p:ext uri="{BB962C8B-B14F-4D97-AF65-F5344CB8AC3E}">
        <p14:creationId xmlns:p14="http://schemas.microsoft.com/office/powerpoint/2010/main" val="58787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1682066" y="1024863"/>
            <a:ext cx="7179436"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Terminologied </a:t>
            </a:r>
            <a:r>
              <a:rPr lang="en" sz="3800" dirty="0">
                <a:solidFill>
                  <a:schemeClr val="dk1"/>
                </a:solidFill>
              </a:rPr>
              <a:t>mongo DB </a:t>
            </a:r>
            <a:endParaRPr sz="3800" dirty="0">
              <a:solidFill>
                <a:schemeClr val="dk1"/>
              </a:solidFill>
            </a:endParaRPr>
          </a:p>
        </p:txBody>
      </p:sp>
      <p:sp>
        <p:nvSpPr>
          <p:cNvPr id="119" name="Google Shape;119;p18"/>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Comparison</a:t>
            </a:r>
            <a:endParaRPr dirty="0">
              <a:solidFill>
                <a:srgbClr val="AAAAAA"/>
              </a:solidFill>
            </a:endParaRPr>
          </a:p>
        </p:txBody>
      </p:sp>
      <p:sp>
        <p:nvSpPr>
          <p:cNvPr id="120" name="Google Shape;120;p18"/>
          <p:cNvSpPr txBox="1"/>
          <p:nvPr/>
        </p:nvSpPr>
        <p:spPr>
          <a:xfrm>
            <a:off x="998125" y="1763850"/>
            <a:ext cx="6027900" cy="48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endParaRPr sz="1500" dirty="0">
              <a:solidFill>
                <a:schemeClr val="dk1"/>
              </a:solidFill>
              <a:latin typeface="Fira Sans Extra Condensed Medium"/>
              <a:ea typeface="Fira Sans Extra Condensed Medium"/>
              <a:cs typeface="Fira Sans Extra Condensed Medium"/>
              <a:sym typeface="Fira Sans Extra Condensed Medium"/>
            </a:endParaRPr>
          </a:p>
        </p:txBody>
      </p:sp>
      <p:graphicFrame>
        <p:nvGraphicFramePr>
          <p:cNvPr id="3" name="Google Shape;181;p34">
            <a:extLst>
              <a:ext uri="{FF2B5EF4-FFF2-40B4-BE49-F238E27FC236}">
                <a16:creationId xmlns:a16="http://schemas.microsoft.com/office/drawing/2014/main" id="{22DAC20F-B675-84D5-0C36-4B7404A489C0}"/>
              </a:ext>
            </a:extLst>
          </p:cNvPr>
          <p:cNvGraphicFramePr/>
          <p:nvPr>
            <p:extLst>
              <p:ext uri="{D42A27DB-BD31-4B8C-83A1-F6EECF244321}">
                <p14:modId xmlns:p14="http://schemas.microsoft.com/office/powerpoint/2010/main" val="4282195296"/>
              </p:ext>
            </p:extLst>
          </p:nvPr>
        </p:nvGraphicFramePr>
        <p:xfrm>
          <a:off x="1777000" y="1895975"/>
          <a:ext cx="5153850" cy="2700200"/>
        </p:xfrm>
        <a:graphic>
          <a:graphicData uri="http://schemas.openxmlformats.org/drawingml/2006/table">
            <a:tbl>
              <a:tblPr>
                <a:noFill/>
              </a:tblPr>
              <a:tblGrid>
                <a:gridCol w="2484375">
                  <a:extLst>
                    <a:ext uri="{9D8B030D-6E8A-4147-A177-3AD203B41FA5}">
                      <a16:colId xmlns:a16="http://schemas.microsoft.com/office/drawing/2014/main" val="20000"/>
                    </a:ext>
                  </a:extLst>
                </a:gridCol>
                <a:gridCol w="2669475">
                  <a:extLst>
                    <a:ext uri="{9D8B030D-6E8A-4147-A177-3AD203B41FA5}">
                      <a16:colId xmlns:a16="http://schemas.microsoft.com/office/drawing/2014/main" val="20001"/>
                    </a:ext>
                  </a:extLst>
                </a:gridCol>
              </a:tblGrid>
              <a:tr h="400425">
                <a:tc>
                  <a:txBody>
                    <a:bodyPr/>
                    <a:lstStyle/>
                    <a:p>
                      <a:pPr marL="0" marR="0" lvl="0" indent="0" algn="l" rtl="0">
                        <a:lnSpc>
                          <a:spcPct val="115000"/>
                        </a:lnSpc>
                        <a:spcBef>
                          <a:spcPts val="0"/>
                        </a:spcBef>
                        <a:spcAft>
                          <a:spcPts val="0"/>
                        </a:spcAft>
                        <a:buClr>
                          <a:srgbClr val="000000"/>
                        </a:buClr>
                        <a:buSzPts val="1200"/>
                        <a:buFont typeface="Arial"/>
                        <a:buNone/>
                      </a:pPr>
                      <a:r>
                        <a:rPr lang="en" sz="1800" b="1" u="none" strike="noStrike" cap="none">
                          <a:solidFill>
                            <a:srgbClr val="222635"/>
                          </a:solidFill>
                          <a:highlight>
                            <a:srgbClr val="FFFFFF"/>
                          </a:highlight>
                          <a:latin typeface="Georgia"/>
                          <a:ea typeface="Georgia"/>
                          <a:cs typeface="Georgia"/>
                          <a:sym typeface="Georgia"/>
                        </a:rPr>
                        <a:t>SQL Server</a:t>
                      </a:r>
                      <a:endParaRPr sz="1800" b="1"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200"/>
                        <a:buFont typeface="Arial"/>
                        <a:buNone/>
                      </a:pPr>
                      <a:r>
                        <a:rPr lang="en" sz="1800" b="1" u="none" strike="noStrike" cap="none">
                          <a:solidFill>
                            <a:srgbClr val="222635"/>
                          </a:solidFill>
                          <a:highlight>
                            <a:srgbClr val="FFFFFF"/>
                          </a:highlight>
                          <a:latin typeface="Georgia"/>
                          <a:ea typeface="Georgia"/>
                          <a:cs typeface="Georgia"/>
                          <a:sym typeface="Georgia"/>
                        </a:rPr>
                        <a:t>MongoDB</a:t>
                      </a:r>
                      <a:endParaRPr sz="1800" b="1"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379875">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Database</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Database</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79875">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Table</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Collection</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79875">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Index</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Index</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379875">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Row</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Document</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79875">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Column</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Field</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400400">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a:solidFill>
                            <a:srgbClr val="222635"/>
                          </a:solidFill>
                          <a:highlight>
                            <a:srgbClr val="FFFFFF"/>
                          </a:highlight>
                          <a:latin typeface="Georgia"/>
                          <a:ea typeface="Georgia"/>
                          <a:cs typeface="Georgia"/>
                          <a:sym typeface="Georgia"/>
                        </a:rPr>
                        <a:t>Joining</a:t>
                      </a:r>
                      <a:endParaRPr sz="1600" u="none" strike="noStrike" cap="none">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050"/>
                        <a:buFont typeface="Arial"/>
                        <a:buNone/>
                      </a:pPr>
                      <a:r>
                        <a:rPr lang="en" sz="1600" u="none" strike="noStrike" cap="none" dirty="0">
                          <a:solidFill>
                            <a:srgbClr val="222635"/>
                          </a:solidFill>
                          <a:highlight>
                            <a:srgbClr val="FFFFFF"/>
                          </a:highlight>
                          <a:latin typeface="Georgia"/>
                          <a:ea typeface="Georgia"/>
                          <a:cs typeface="Georgia"/>
                          <a:sym typeface="Georgia"/>
                        </a:rPr>
                        <a:t>Linking &amp; Embedding</a:t>
                      </a:r>
                      <a:endParaRPr sz="1600" u="none" strike="noStrike" cap="none" dirty="0">
                        <a:solidFill>
                          <a:srgbClr val="222635"/>
                        </a:solidFill>
                        <a:highlight>
                          <a:srgbClr val="FFFFFF"/>
                        </a:highlight>
                      </a:endParaRPr>
                    </a:p>
                  </a:txBody>
                  <a:tcPr marL="101600" marR="101600" marT="50800" marB="508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96430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998125" y="1083500"/>
            <a:ext cx="33558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Why</a:t>
            </a:r>
            <a:r>
              <a:rPr lang="en" sz="3800" dirty="0">
                <a:solidFill>
                  <a:schemeClr val="dk1"/>
                </a:solidFill>
              </a:rPr>
              <a:t> mongo DB ?</a:t>
            </a:r>
            <a:endParaRPr sz="3800" dirty="0">
              <a:solidFill>
                <a:schemeClr val="dk1"/>
              </a:solidFill>
            </a:endParaRPr>
          </a:p>
        </p:txBody>
      </p:sp>
      <p:sp>
        <p:nvSpPr>
          <p:cNvPr id="119" name="Google Shape;119;p18"/>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Advantage</a:t>
            </a:r>
            <a:endParaRPr dirty="0">
              <a:solidFill>
                <a:srgbClr val="AAAAAA"/>
              </a:solidFill>
            </a:endParaRPr>
          </a:p>
        </p:txBody>
      </p:sp>
      <p:sp>
        <p:nvSpPr>
          <p:cNvPr id="120" name="Google Shape;120;p18"/>
          <p:cNvSpPr txBox="1"/>
          <p:nvPr/>
        </p:nvSpPr>
        <p:spPr>
          <a:xfrm>
            <a:off x="998125" y="1763850"/>
            <a:ext cx="6027900" cy="48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endParaRPr sz="15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6" name="Google Shape;163;p21">
            <a:extLst>
              <a:ext uri="{FF2B5EF4-FFF2-40B4-BE49-F238E27FC236}">
                <a16:creationId xmlns:a16="http://schemas.microsoft.com/office/drawing/2014/main" id="{7CEDB5B6-A595-9940-D26F-EA2B5641699E}"/>
              </a:ext>
            </a:extLst>
          </p:cNvPr>
          <p:cNvSpPr txBox="1"/>
          <p:nvPr/>
        </p:nvSpPr>
        <p:spPr>
          <a:xfrm>
            <a:off x="1220092" y="1583127"/>
            <a:ext cx="6912900" cy="2287200"/>
          </a:xfrm>
          <a:prstGeom prst="rect">
            <a:avLst/>
          </a:prstGeom>
          <a:noFill/>
          <a:ln>
            <a:noFill/>
          </a:ln>
        </p:spPr>
        <p:txBody>
          <a:bodyPr spcFirstLastPara="1" wrap="square" lIns="91425" tIns="91425" rIns="91425" bIns="91425" anchor="ctr" anchorCtr="0">
            <a:noAutofit/>
          </a:bodyPr>
          <a:lstStyle/>
          <a:p>
            <a:pPr marL="457200" lvl="0" indent="0" algn="l" rtl="0">
              <a:lnSpc>
                <a:spcPct val="125000"/>
              </a:lnSpc>
              <a:spcBef>
                <a:spcPts val="1400"/>
              </a:spcBef>
              <a:spcAft>
                <a:spcPts val="0"/>
              </a:spcAft>
              <a:buNone/>
            </a:pPr>
            <a:endParaRPr sz="1300" b="1" dirty="0">
              <a:solidFill>
                <a:srgbClr val="32325D"/>
              </a:solidFill>
              <a:highlight>
                <a:srgbClr val="FFFFFF"/>
              </a:highlight>
            </a:endParaRPr>
          </a:p>
          <a:p>
            <a:pPr marL="457200" lvl="0" indent="-311150" algn="l" rtl="0">
              <a:lnSpc>
                <a:spcPct val="125000"/>
              </a:lnSpc>
              <a:spcBef>
                <a:spcPts val="1400"/>
              </a:spcBef>
              <a:spcAft>
                <a:spcPts val="0"/>
              </a:spcAft>
              <a:buClr>
                <a:srgbClr val="202124"/>
              </a:buClr>
              <a:buSzPts val="1300"/>
              <a:buChar char="●"/>
            </a:pPr>
            <a:r>
              <a:rPr lang="en-IN" sz="1300" b="1" dirty="0">
                <a:solidFill>
                  <a:schemeClr val="tx1"/>
                </a:solidFill>
                <a:highlight>
                  <a:srgbClr val="FFFFFF"/>
                </a:highlight>
              </a:rPr>
              <a:t>Scalability</a:t>
            </a:r>
            <a:endParaRPr sz="1300" b="1" dirty="0">
              <a:solidFill>
                <a:schemeClr val="tx1"/>
              </a:solidFill>
              <a:highlight>
                <a:srgbClr val="FFFFFF"/>
              </a:highlight>
            </a:endParaRPr>
          </a:p>
          <a:p>
            <a:pPr marL="457200" lvl="0" indent="-311150" algn="l" rtl="0">
              <a:lnSpc>
                <a:spcPct val="138461"/>
              </a:lnSpc>
              <a:spcBef>
                <a:spcPts val="0"/>
              </a:spcBef>
              <a:spcAft>
                <a:spcPts val="0"/>
              </a:spcAft>
              <a:buClr>
                <a:srgbClr val="202124"/>
              </a:buClr>
              <a:buSzPts val="1300"/>
              <a:buChar char="●"/>
            </a:pPr>
            <a:r>
              <a:rPr lang="en-IN" sz="1300" b="1" dirty="0">
                <a:solidFill>
                  <a:schemeClr val="tx1"/>
                </a:solidFill>
                <a:highlight>
                  <a:srgbClr val="FFFFFF"/>
                </a:highlight>
              </a:rPr>
              <a:t>High Performance</a:t>
            </a:r>
          </a:p>
          <a:p>
            <a:pPr marL="457200" marR="0" lvl="0" indent="-311150" algn="l" rtl="0">
              <a:lnSpc>
                <a:spcPct val="138461"/>
              </a:lnSpc>
              <a:spcBef>
                <a:spcPts val="0"/>
              </a:spcBef>
              <a:spcAft>
                <a:spcPts val="0"/>
              </a:spcAft>
              <a:buClr>
                <a:srgbClr val="202124"/>
              </a:buClr>
              <a:buSzPts val="1300"/>
              <a:buChar char="●"/>
            </a:pPr>
            <a:r>
              <a:rPr lang="en-IN" sz="1300" b="1" dirty="0">
                <a:solidFill>
                  <a:schemeClr val="tx1"/>
                </a:solidFill>
                <a:highlight>
                  <a:srgbClr val="FFFFFF"/>
                </a:highlight>
              </a:rPr>
              <a:t>Ease of Development</a:t>
            </a:r>
          </a:p>
          <a:p>
            <a:pPr marL="457200" lvl="0" indent="-314325" algn="l" rtl="0">
              <a:lnSpc>
                <a:spcPct val="125000"/>
              </a:lnSpc>
              <a:spcBef>
                <a:spcPts val="0"/>
              </a:spcBef>
              <a:spcAft>
                <a:spcPts val="0"/>
              </a:spcAft>
              <a:buClr>
                <a:schemeClr val="dk1"/>
              </a:buClr>
              <a:buSzPts val="1350"/>
              <a:buChar char="●"/>
            </a:pPr>
            <a:r>
              <a:rPr lang="en-IN" sz="1300" b="1" dirty="0">
                <a:solidFill>
                  <a:schemeClr val="tx1"/>
                </a:solidFill>
                <a:highlight>
                  <a:srgbClr val="FFFFFF"/>
                </a:highlight>
              </a:rPr>
              <a:t>Flexible Data Model</a:t>
            </a:r>
            <a:endParaRPr sz="1300" b="1" dirty="0">
              <a:solidFill>
                <a:schemeClr val="tx1"/>
              </a:solidFill>
              <a:highlight>
                <a:srgbClr val="FFFFFF"/>
              </a:highlight>
            </a:endParaRPr>
          </a:p>
          <a:p>
            <a:pPr marL="457200" marR="0" lvl="0" indent="-314325" algn="l" rtl="0">
              <a:lnSpc>
                <a:spcPct val="125000"/>
              </a:lnSpc>
              <a:spcBef>
                <a:spcPts val="0"/>
              </a:spcBef>
              <a:spcAft>
                <a:spcPts val="0"/>
              </a:spcAft>
              <a:buClr>
                <a:schemeClr val="dk1"/>
              </a:buClr>
              <a:buSzPts val="1350"/>
              <a:buChar char="●"/>
            </a:pPr>
            <a:r>
              <a:rPr lang="en-IN" sz="1300" b="1" dirty="0">
                <a:solidFill>
                  <a:schemeClr val="tx1"/>
                </a:solidFill>
                <a:highlight>
                  <a:srgbClr val="FFFFFF"/>
                </a:highlight>
              </a:rPr>
              <a:t>Community and Ecosystem</a:t>
            </a:r>
            <a:endParaRPr sz="1300" b="1" dirty="0">
              <a:solidFill>
                <a:schemeClr val="tx1"/>
              </a:solidFill>
              <a:highlight>
                <a:srgbClr val="FFFFFF"/>
              </a:highlight>
            </a:endParaRPr>
          </a:p>
          <a:p>
            <a:pPr marL="0" lvl="0" indent="0" algn="l" rtl="0">
              <a:lnSpc>
                <a:spcPct val="125000"/>
              </a:lnSpc>
              <a:spcBef>
                <a:spcPts val="1400"/>
              </a:spcBef>
              <a:spcAft>
                <a:spcPts val="0"/>
              </a:spcAft>
              <a:buNone/>
            </a:pPr>
            <a:endParaRPr sz="1300" b="1" dirty="0">
              <a:solidFill>
                <a:srgbClr val="32325D"/>
              </a:solidFill>
              <a:highlight>
                <a:srgbClr val="FFFFFF"/>
              </a:highlight>
            </a:endParaRPr>
          </a:p>
          <a:p>
            <a:pPr marL="457200" lvl="0" indent="0" algn="l" rtl="0">
              <a:lnSpc>
                <a:spcPct val="138461"/>
              </a:lnSpc>
              <a:spcBef>
                <a:spcPts val="1400"/>
              </a:spcBef>
              <a:spcAft>
                <a:spcPts val="0"/>
              </a:spcAft>
              <a:buNone/>
            </a:pPr>
            <a:endParaRPr sz="1300" b="1" dirty="0">
              <a:solidFill>
                <a:srgbClr val="202124"/>
              </a:solidFill>
              <a:highlight>
                <a:srgbClr val="FFFFFF"/>
              </a:highlight>
            </a:endParaRPr>
          </a:p>
        </p:txBody>
      </p:sp>
      <p:pic>
        <p:nvPicPr>
          <p:cNvPr id="18" name="Picture 17">
            <a:extLst>
              <a:ext uri="{FF2B5EF4-FFF2-40B4-BE49-F238E27FC236}">
                <a16:creationId xmlns:a16="http://schemas.microsoft.com/office/drawing/2014/main" id="{A67B0F27-6D90-4152-4EEC-F289D52ACA05}"/>
              </a:ext>
            </a:extLst>
          </p:cNvPr>
          <p:cNvPicPr>
            <a:picLocks noChangeAspect="1"/>
          </p:cNvPicPr>
          <p:nvPr/>
        </p:nvPicPr>
        <p:blipFill>
          <a:blip r:embed="rId3"/>
          <a:stretch>
            <a:fillRect/>
          </a:stretch>
        </p:blipFill>
        <p:spPr>
          <a:xfrm>
            <a:off x="5278368" y="902877"/>
            <a:ext cx="3475323" cy="37783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When </a:t>
            </a:r>
            <a:r>
              <a:rPr lang="en" sz="3800" dirty="0">
                <a:solidFill>
                  <a:schemeClr val="dk1"/>
                </a:solidFill>
              </a:rPr>
              <a:t>to use MongoDB</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Application</a:t>
            </a:r>
            <a:endParaRPr dirty="0">
              <a:solidFill>
                <a:srgbClr val="AAAAAA"/>
              </a:solidFill>
            </a:endParaRPr>
          </a:p>
        </p:txBody>
      </p:sp>
      <p:sp>
        <p:nvSpPr>
          <p:cNvPr id="132" name="Google Shape;132;p19"/>
          <p:cNvSpPr txBox="1"/>
          <p:nvPr/>
        </p:nvSpPr>
        <p:spPr>
          <a:xfrm>
            <a:off x="769685" y="1897393"/>
            <a:ext cx="6420833" cy="2287200"/>
          </a:xfrm>
          <a:prstGeom prst="rect">
            <a:avLst/>
          </a:prstGeom>
          <a:noFill/>
          <a:ln>
            <a:noFill/>
          </a:ln>
        </p:spPr>
        <p:txBody>
          <a:bodyPr spcFirstLastPara="1" wrap="square" lIns="91425" tIns="91425" rIns="91425" bIns="91425" anchor="ctr" anchorCtr="0">
            <a:noAutofit/>
          </a:bodyPr>
          <a:lstStyle/>
          <a:p>
            <a:pPr marL="457200" lvl="0" indent="-314325" algn="l" rtl="0">
              <a:lnSpc>
                <a:spcPct val="138461"/>
              </a:lnSpc>
              <a:spcBef>
                <a:spcPts val="1400"/>
              </a:spcBef>
              <a:spcAft>
                <a:spcPts val="0"/>
              </a:spcAft>
              <a:buClr>
                <a:schemeClr val="dk1"/>
              </a:buClr>
              <a:buSzPts val="1350"/>
              <a:buChar char="●"/>
            </a:pPr>
            <a:r>
              <a:rPr lang="en-US" sz="1350" b="1" dirty="0">
                <a:solidFill>
                  <a:schemeClr val="dk1"/>
                </a:solidFill>
                <a:highlight>
                  <a:srgbClr val="FFFFFF"/>
                </a:highlight>
              </a:rPr>
              <a:t>Flexible Data Models:</a:t>
            </a:r>
            <a:r>
              <a:rPr lang="en-US" sz="1350" dirty="0">
                <a:solidFill>
                  <a:schemeClr val="dk1"/>
                </a:solidFill>
                <a:highlight>
                  <a:srgbClr val="FFFFFF"/>
                </a:highlight>
              </a:rPr>
              <a:t> When your application deals with semi-structured or polymorphic data, MongoDB's document-oriented data model shines</a:t>
            </a:r>
          </a:p>
          <a:p>
            <a:pPr marL="457200" lvl="0" indent="-314325" algn="l" rtl="0">
              <a:lnSpc>
                <a:spcPct val="138461"/>
              </a:lnSpc>
              <a:spcBef>
                <a:spcPts val="1400"/>
              </a:spcBef>
              <a:spcAft>
                <a:spcPts val="0"/>
              </a:spcAft>
              <a:buClr>
                <a:schemeClr val="dk1"/>
              </a:buClr>
              <a:buSzPts val="1350"/>
              <a:buChar char="●"/>
            </a:pPr>
            <a:r>
              <a:rPr lang="en-US" sz="1350" b="1" dirty="0">
                <a:solidFill>
                  <a:schemeClr val="dk1"/>
                </a:solidFill>
                <a:highlight>
                  <a:srgbClr val="FFFFFF"/>
                </a:highlight>
              </a:rPr>
              <a:t>Scalability: </a:t>
            </a:r>
            <a:r>
              <a:rPr lang="en-US" sz="1350" dirty="0">
                <a:solidFill>
                  <a:schemeClr val="dk1"/>
                </a:solidFill>
                <a:highlight>
                  <a:srgbClr val="FFFFFF"/>
                </a:highlight>
              </a:rPr>
              <a:t>MongoDB is designed for horizontal scalability, making it a great choice for applications that need to scale out across multiple servers or clusters to handle growing data volumes and user loads. </a:t>
            </a:r>
          </a:p>
          <a:p>
            <a:pPr marL="457200" lvl="0" indent="-314325" algn="l" rtl="0">
              <a:lnSpc>
                <a:spcPct val="138461"/>
              </a:lnSpc>
              <a:spcBef>
                <a:spcPts val="1400"/>
              </a:spcBef>
              <a:spcAft>
                <a:spcPts val="0"/>
              </a:spcAft>
              <a:buClr>
                <a:schemeClr val="dk1"/>
              </a:buClr>
              <a:buSzPts val="1350"/>
              <a:buChar char="●"/>
            </a:pPr>
            <a:r>
              <a:rPr lang="en-US" sz="1350" b="1" dirty="0">
                <a:solidFill>
                  <a:schemeClr val="dk1"/>
                </a:solidFill>
                <a:highlight>
                  <a:srgbClr val="FFFFFF"/>
                </a:highlight>
              </a:rPr>
              <a:t>Real-time Analytics and Event Logging: </a:t>
            </a:r>
            <a:r>
              <a:rPr lang="en-US" sz="1350" dirty="0">
                <a:solidFill>
                  <a:schemeClr val="dk1"/>
                </a:solidFill>
                <a:highlight>
                  <a:srgbClr val="FFFFFF"/>
                </a:highlight>
              </a:rPr>
              <a:t>MongoDB's aggregation framework and native support for geospatial and text search queries make it a good fit for applications that require real-time analytics, event logging</a:t>
            </a: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1843710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When </a:t>
            </a:r>
            <a:r>
              <a:rPr lang="en" sz="3800" dirty="0">
                <a:solidFill>
                  <a:schemeClr val="dk1"/>
                </a:solidFill>
              </a:rPr>
              <a:t>to use MongoDB</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Application</a:t>
            </a:r>
            <a:endParaRPr dirty="0">
              <a:solidFill>
                <a:srgbClr val="AAAAAA"/>
              </a:solidFill>
            </a:endParaRPr>
          </a:p>
        </p:txBody>
      </p:sp>
      <p:sp>
        <p:nvSpPr>
          <p:cNvPr id="132" name="Google Shape;132;p19"/>
          <p:cNvSpPr txBox="1"/>
          <p:nvPr/>
        </p:nvSpPr>
        <p:spPr>
          <a:xfrm>
            <a:off x="959819" y="1940575"/>
            <a:ext cx="6027900" cy="2287200"/>
          </a:xfrm>
          <a:prstGeom prst="rect">
            <a:avLst/>
          </a:prstGeom>
          <a:noFill/>
          <a:ln>
            <a:noFill/>
          </a:ln>
        </p:spPr>
        <p:txBody>
          <a:bodyPr spcFirstLastPara="1" wrap="square" lIns="91425" tIns="91425" rIns="91425" bIns="91425" anchor="ctr" anchorCtr="0">
            <a:noAutofit/>
          </a:bodyPr>
          <a:lstStyle/>
          <a:p>
            <a:pPr marL="457200" lvl="0" indent="-314325" algn="l" rtl="0">
              <a:lnSpc>
                <a:spcPct val="138461"/>
              </a:lnSpc>
              <a:spcBef>
                <a:spcPts val="1400"/>
              </a:spcBef>
              <a:spcAft>
                <a:spcPts val="0"/>
              </a:spcAft>
              <a:buClr>
                <a:schemeClr val="dk1"/>
              </a:buClr>
              <a:buSzPts val="1350"/>
              <a:buChar char="●"/>
            </a:pPr>
            <a:r>
              <a:rPr lang="en-US" sz="1350" b="1" dirty="0">
                <a:solidFill>
                  <a:schemeClr val="dk1"/>
                </a:solidFill>
                <a:highlight>
                  <a:srgbClr val="FFFFFF"/>
                </a:highlight>
              </a:rPr>
              <a:t>Content Management and Cataloging: </a:t>
            </a:r>
            <a:r>
              <a:rPr lang="en-US" sz="1350" dirty="0">
                <a:solidFill>
                  <a:schemeClr val="dk1"/>
                </a:solidFill>
                <a:highlight>
                  <a:srgbClr val="FFFFFF"/>
                </a:highlight>
              </a:rPr>
              <a:t>MongoDB is often used for content management systems, product catalogs, and other applications that involve managing large volumes of diverse content or metadata</a:t>
            </a:r>
          </a:p>
          <a:p>
            <a:pPr marL="457200" lvl="0" indent="-314325" algn="l" rtl="0">
              <a:lnSpc>
                <a:spcPct val="138461"/>
              </a:lnSpc>
              <a:spcBef>
                <a:spcPts val="1400"/>
              </a:spcBef>
              <a:spcAft>
                <a:spcPts val="0"/>
              </a:spcAft>
              <a:buClr>
                <a:schemeClr val="dk1"/>
              </a:buClr>
              <a:buSzPts val="1350"/>
              <a:buChar char="●"/>
            </a:pPr>
            <a:r>
              <a:rPr lang="en-US" sz="1350" b="1" dirty="0">
                <a:solidFill>
                  <a:schemeClr val="dk1"/>
                </a:solidFill>
                <a:highlight>
                  <a:srgbClr val="FFFFFF"/>
                </a:highlight>
              </a:rPr>
              <a:t>Internet of Things (IoT) and Sensor Data: </a:t>
            </a:r>
            <a:r>
              <a:rPr lang="en-US" sz="1350" dirty="0">
                <a:solidFill>
                  <a:schemeClr val="dk1"/>
                </a:solidFill>
                <a:highlight>
                  <a:srgbClr val="FFFFFF"/>
                </a:highlight>
              </a:rPr>
              <a:t>MongoDB is well-suited for storing and analyzing data from IoT devices and sensors</a:t>
            </a:r>
          </a:p>
          <a:p>
            <a:pPr marL="457200" lvl="0" indent="-314325" algn="l" rtl="0">
              <a:lnSpc>
                <a:spcPct val="138461"/>
              </a:lnSpc>
              <a:spcBef>
                <a:spcPts val="1400"/>
              </a:spcBef>
              <a:spcAft>
                <a:spcPts val="0"/>
              </a:spcAft>
              <a:buClr>
                <a:schemeClr val="dk1"/>
              </a:buClr>
              <a:buSzPts val="1350"/>
              <a:buChar char="●"/>
            </a:pPr>
            <a:r>
              <a:rPr lang="en-US" sz="1350" b="1" dirty="0">
                <a:solidFill>
                  <a:schemeClr val="dk1"/>
                </a:solidFill>
                <a:highlight>
                  <a:srgbClr val="FFFFFF"/>
                </a:highlight>
              </a:rPr>
              <a:t>Mobile and Web Applications: </a:t>
            </a:r>
            <a:r>
              <a:rPr lang="en-US" sz="1350" dirty="0">
                <a:solidFill>
                  <a:schemeClr val="dk1"/>
                </a:solidFill>
                <a:highlight>
                  <a:srgbClr val="FFFFFF"/>
                </a:highlight>
              </a:rPr>
              <a:t>MongoDB's scalability, performance, and ease of integration with modern application frameworks make it an excellent choice for mobile and web applications</a:t>
            </a:r>
            <a:endParaRPr sz="1350" dirty="0">
              <a:solidFill>
                <a:schemeClr val="dk1"/>
              </a:solidFill>
              <a:highlight>
                <a:srgbClr val="FFFFFF"/>
              </a:highlight>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2782746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998124" y="1083500"/>
            <a:ext cx="6294497"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Who </a:t>
            </a:r>
            <a:r>
              <a:rPr lang="en" sz="3800" dirty="0">
                <a:solidFill>
                  <a:schemeClr val="tx1"/>
                </a:solidFill>
              </a:rPr>
              <a:t>all can use </a:t>
            </a:r>
            <a:r>
              <a:rPr lang="en" sz="3800" dirty="0">
                <a:solidFill>
                  <a:schemeClr val="dk1"/>
                </a:solidFill>
              </a:rPr>
              <a:t>mongo DB ?</a:t>
            </a:r>
            <a:endParaRPr sz="3800" dirty="0">
              <a:solidFill>
                <a:schemeClr val="dk1"/>
              </a:solidFill>
            </a:endParaRPr>
          </a:p>
        </p:txBody>
      </p:sp>
      <p:sp>
        <p:nvSpPr>
          <p:cNvPr id="119" name="Google Shape;119;p18"/>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Usage </a:t>
            </a:r>
            <a:endParaRPr dirty="0">
              <a:solidFill>
                <a:srgbClr val="AAAAAA"/>
              </a:solidFill>
            </a:endParaRPr>
          </a:p>
        </p:txBody>
      </p:sp>
      <p:sp>
        <p:nvSpPr>
          <p:cNvPr id="120" name="Google Shape;120;p18"/>
          <p:cNvSpPr txBox="1"/>
          <p:nvPr/>
        </p:nvSpPr>
        <p:spPr>
          <a:xfrm>
            <a:off x="998125" y="1763850"/>
            <a:ext cx="6027900" cy="48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endParaRPr sz="15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6" name="Google Shape;163;p21">
            <a:extLst>
              <a:ext uri="{FF2B5EF4-FFF2-40B4-BE49-F238E27FC236}">
                <a16:creationId xmlns:a16="http://schemas.microsoft.com/office/drawing/2014/main" id="{7CEDB5B6-A595-9940-D26F-EA2B5641699E}"/>
              </a:ext>
            </a:extLst>
          </p:cNvPr>
          <p:cNvSpPr txBox="1"/>
          <p:nvPr/>
        </p:nvSpPr>
        <p:spPr>
          <a:xfrm>
            <a:off x="998124" y="2241106"/>
            <a:ext cx="6912900" cy="2287200"/>
          </a:xfrm>
          <a:prstGeom prst="rect">
            <a:avLst/>
          </a:prstGeom>
          <a:noFill/>
          <a:ln>
            <a:noFill/>
          </a:ln>
        </p:spPr>
        <p:txBody>
          <a:bodyPr spcFirstLastPara="1" wrap="square" lIns="91425" tIns="91425" rIns="91425" bIns="91425" anchor="ctr" anchorCtr="0">
            <a:noAutofit/>
          </a:bodyPr>
          <a:lstStyle/>
          <a:p>
            <a:pPr marL="457200" lvl="0" indent="0" algn="l" rtl="0">
              <a:spcBef>
                <a:spcPts val="1400"/>
              </a:spcBef>
              <a:spcAft>
                <a:spcPts val="0"/>
              </a:spcAft>
              <a:buNone/>
            </a:pPr>
            <a:endParaRPr sz="1300" b="1" dirty="0">
              <a:solidFill>
                <a:srgbClr val="32325D"/>
              </a:solidFill>
              <a:highlight>
                <a:srgbClr val="FFFFFF"/>
              </a:highlight>
            </a:endParaRPr>
          </a:p>
          <a:p>
            <a:pPr marL="457200" lvl="0" indent="-311150" algn="l" rtl="0">
              <a:spcBef>
                <a:spcPts val="1400"/>
              </a:spcBef>
              <a:spcAft>
                <a:spcPts val="0"/>
              </a:spcAft>
              <a:buClr>
                <a:srgbClr val="202124"/>
              </a:buClr>
              <a:buSzPts val="1300"/>
              <a:buChar char="●"/>
            </a:pPr>
            <a:r>
              <a:rPr lang="en-US" sz="1300" b="1" dirty="0">
                <a:solidFill>
                  <a:schemeClr val="tx1"/>
                </a:solidFill>
                <a:highlight>
                  <a:srgbClr val="FFFFFF"/>
                </a:highlight>
              </a:rPr>
              <a:t>Developers: </a:t>
            </a:r>
            <a:r>
              <a:rPr lang="en-US" sz="1300" dirty="0">
                <a:solidFill>
                  <a:schemeClr val="tx1"/>
                </a:solidFill>
                <a:highlight>
                  <a:srgbClr val="FFFFFF"/>
                </a:highlight>
              </a:rPr>
              <a:t>MongoDB is popular among developers due to its flexible data model</a:t>
            </a:r>
          </a:p>
          <a:p>
            <a:pPr marL="457200" lvl="0" indent="-311150" algn="l" rtl="0">
              <a:spcBef>
                <a:spcPts val="1400"/>
              </a:spcBef>
              <a:spcAft>
                <a:spcPts val="0"/>
              </a:spcAft>
              <a:buClr>
                <a:srgbClr val="202124"/>
              </a:buClr>
              <a:buSzPts val="1300"/>
              <a:buChar char="●"/>
            </a:pPr>
            <a:r>
              <a:rPr lang="en-US" sz="1300" b="1" dirty="0">
                <a:solidFill>
                  <a:schemeClr val="tx1"/>
                </a:solidFill>
                <a:highlight>
                  <a:srgbClr val="FFFFFF"/>
                </a:highlight>
              </a:rPr>
              <a:t>Database Administrators (DBAs): </a:t>
            </a:r>
            <a:r>
              <a:rPr lang="en-US" sz="1300" dirty="0">
                <a:solidFill>
                  <a:schemeClr val="tx1"/>
                </a:solidFill>
                <a:highlight>
                  <a:srgbClr val="FFFFFF"/>
                </a:highlight>
              </a:rPr>
              <a:t>MongoDB administrators are responsible for configuring, monitoring, and maintaining MongoDB deployments. </a:t>
            </a:r>
          </a:p>
          <a:p>
            <a:pPr marL="457200" lvl="0" indent="-311150" algn="l" rtl="0">
              <a:spcBef>
                <a:spcPts val="1400"/>
              </a:spcBef>
              <a:spcAft>
                <a:spcPts val="0"/>
              </a:spcAft>
              <a:buClr>
                <a:srgbClr val="202124"/>
              </a:buClr>
              <a:buSzPts val="1300"/>
              <a:buChar char="●"/>
            </a:pPr>
            <a:r>
              <a:rPr lang="en-US" sz="1300" b="1" dirty="0">
                <a:solidFill>
                  <a:schemeClr val="tx1"/>
                </a:solidFill>
                <a:highlight>
                  <a:srgbClr val="FFFFFF"/>
                </a:highlight>
              </a:rPr>
              <a:t>Data Engineers: </a:t>
            </a:r>
            <a:r>
              <a:rPr lang="en-US" sz="1300" dirty="0">
                <a:solidFill>
                  <a:schemeClr val="tx1"/>
                </a:solidFill>
                <a:highlight>
                  <a:srgbClr val="FFFFFF"/>
                </a:highlight>
              </a:rPr>
              <a:t>Data engineers work with MongoDB to design, implement, and optimize data pipelines for ingesting, processing, and analyzing large volumes of data.</a:t>
            </a:r>
          </a:p>
          <a:p>
            <a:pPr marL="457200" lvl="0" indent="-311150" algn="l" rtl="0">
              <a:spcBef>
                <a:spcPts val="1400"/>
              </a:spcBef>
              <a:spcAft>
                <a:spcPts val="0"/>
              </a:spcAft>
              <a:buClr>
                <a:srgbClr val="202124"/>
              </a:buClr>
              <a:buSzPts val="1300"/>
              <a:buChar char="●"/>
            </a:pPr>
            <a:r>
              <a:rPr lang="en-US" sz="1300" b="1" dirty="0">
                <a:solidFill>
                  <a:schemeClr val="tx1"/>
                </a:solidFill>
                <a:highlight>
                  <a:srgbClr val="FFFFFF"/>
                </a:highlight>
              </a:rPr>
              <a:t>Business Users: </a:t>
            </a:r>
            <a:r>
              <a:rPr lang="en-US" sz="1300" dirty="0">
                <a:solidFill>
                  <a:schemeClr val="tx1"/>
                </a:solidFill>
                <a:highlight>
                  <a:srgbClr val="FFFFFF"/>
                </a:highlight>
              </a:rPr>
              <a:t>Business users can leverage MongoDB for reporting, dashboarding, and business intelligence (BI) purposes. </a:t>
            </a:r>
          </a:p>
          <a:p>
            <a:pPr marL="457200" lvl="0" indent="-311150" algn="l" rtl="0">
              <a:spcBef>
                <a:spcPts val="1400"/>
              </a:spcBef>
              <a:spcAft>
                <a:spcPts val="0"/>
              </a:spcAft>
              <a:buClr>
                <a:srgbClr val="202124"/>
              </a:buClr>
              <a:buSzPts val="1300"/>
              <a:buChar char="●"/>
            </a:pPr>
            <a:r>
              <a:rPr lang="en-US" sz="1300" b="1" dirty="0">
                <a:solidFill>
                  <a:schemeClr val="tx1"/>
                </a:solidFill>
                <a:highlight>
                  <a:srgbClr val="FFFFFF"/>
                </a:highlight>
              </a:rPr>
              <a:t>Academic and Research Institutions: </a:t>
            </a:r>
            <a:r>
              <a:rPr lang="en-US" sz="1300" dirty="0">
                <a:solidFill>
                  <a:schemeClr val="tx1"/>
                </a:solidFill>
                <a:highlight>
                  <a:srgbClr val="FFFFFF"/>
                </a:highlight>
              </a:rPr>
              <a:t>MongoDB is used in academic and research institutions for educational purposes</a:t>
            </a:r>
            <a:r>
              <a:rPr lang="en-IN" sz="1300" dirty="0">
                <a:solidFill>
                  <a:schemeClr val="tx1"/>
                </a:solidFill>
                <a:highlight>
                  <a:srgbClr val="FFFFFF"/>
                </a:highlight>
              </a:rPr>
              <a:t>Scalability</a:t>
            </a:r>
            <a:endParaRPr sz="1300" dirty="0">
              <a:solidFill>
                <a:schemeClr val="tx1"/>
              </a:solidFill>
              <a:highlight>
                <a:srgbClr val="FFFFFF"/>
              </a:highlight>
            </a:endParaRPr>
          </a:p>
          <a:p>
            <a:pPr marL="0" lvl="0" indent="0" algn="l" rtl="0">
              <a:spcBef>
                <a:spcPts val="1400"/>
              </a:spcBef>
              <a:spcAft>
                <a:spcPts val="0"/>
              </a:spcAft>
              <a:buNone/>
            </a:pPr>
            <a:endParaRPr sz="1300" b="1" dirty="0">
              <a:solidFill>
                <a:srgbClr val="32325D"/>
              </a:solidFill>
              <a:highlight>
                <a:srgbClr val="FFFFFF"/>
              </a:highlight>
            </a:endParaRPr>
          </a:p>
          <a:p>
            <a:pPr marL="457200" lvl="0" indent="0" algn="l" rtl="0">
              <a:spcBef>
                <a:spcPts val="1400"/>
              </a:spcBef>
              <a:spcAft>
                <a:spcPts val="0"/>
              </a:spcAft>
              <a:buNone/>
            </a:pPr>
            <a:endParaRPr sz="1300" b="1" dirty="0">
              <a:solidFill>
                <a:srgbClr val="202124"/>
              </a:solidFill>
              <a:highlight>
                <a:srgbClr val="FFFFFF"/>
              </a:highlight>
            </a:endParaRPr>
          </a:p>
        </p:txBody>
      </p:sp>
      <p:grpSp>
        <p:nvGrpSpPr>
          <p:cNvPr id="2" name="Google Shape;122;p18">
            <a:extLst>
              <a:ext uri="{FF2B5EF4-FFF2-40B4-BE49-F238E27FC236}">
                <a16:creationId xmlns:a16="http://schemas.microsoft.com/office/drawing/2014/main" id="{02BB369D-9948-3499-4A28-FEDACDB63B6A}"/>
              </a:ext>
            </a:extLst>
          </p:cNvPr>
          <p:cNvGrpSpPr/>
          <p:nvPr/>
        </p:nvGrpSpPr>
        <p:grpSpPr>
          <a:xfrm>
            <a:off x="7467458" y="1398823"/>
            <a:ext cx="2053848" cy="1847242"/>
            <a:chOff x="-1333200" y="2770450"/>
            <a:chExt cx="291450" cy="292225"/>
          </a:xfrm>
        </p:grpSpPr>
        <p:sp>
          <p:nvSpPr>
            <p:cNvPr id="3" name="Google Shape;123;p18">
              <a:extLst>
                <a:ext uri="{FF2B5EF4-FFF2-40B4-BE49-F238E27FC236}">
                  <a16:creationId xmlns:a16="http://schemas.microsoft.com/office/drawing/2014/main" id="{7735C978-B154-92E6-B671-468043EC413D}"/>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24;p18">
              <a:extLst>
                <a:ext uri="{FF2B5EF4-FFF2-40B4-BE49-F238E27FC236}">
                  <a16:creationId xmlns:a16="http://schemas.microsoft.com/office/drawing/2014/main" id="{E26ECC77-0F81-707A-3B67-2322032647C9}"/>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01074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4" y="1083500"/>
            <a:ext cx="5730053"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How </a:t>
            </a:r>
            <a:r>
              <a:rPr lang="en" sz="3800" dirty="0">
                <a:solidFill>
                  <a:schemeClr val="dk1"/>
                </a:solidFill>
              </a:rPr>
              <a:t>to Mongo - Server</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Installation</a:t>
            </a:r>
            <a:endParaRPr dirty="0">
              <a:solidFill>
                <a:srgbClr val="AAAAAA"/>
              </a:solidFill>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 name="TextBox 2">
            <a:extLst>
              <a:ext uri="{FF2B5EF4-FFF2-40B4-BE49-F238E27FC236}">
                <a16:creationId xmlns:a16="http://schemas.microsoft.com/office/drawing/2014/main" id="{D705C0DF-8DCB-2D90-F548-4364F06A539E}"/>
              </a:ext>
            </a:extLst>
          </p:cNvPr>
          <p:cNvSpPr txBox="1"/>
          <p:nvPr/>
        </p:nvSpPr>
        <p:spPr>
          <a:xfrm>
            <a:off x="998125" y="1702600"/>
            <a:ext cx="4967110" cy="307777"/>
          </a:xfrm>
          <a:prstGeom prst="rect">
            <a:avLst/>
          </a:prstGeom>
          <a:noFill/>
        </p:spPr>
        <p:txBody>
          <a:bodyPr wrap="square">
            <a:spAutoFit/>
          </a:bodyPr>
          <a:lstStyle/>
          <a:p>
            <a:r>
              <a:rPr lang="en-IN" dirty="0"/>
              <a:t>https://www.mongodb.com/try/download/community</a:t>
            </a:r>
          </a:p>
        </p:txBody>
      </p:sp>
      <p:pic>
        <p:nvPicPr>
          <p:cNvPr id="5" name="Picture 4">
            <a:extLst>
              <a:ext uri="{FF2B5EF4-FFF2-40B4-BE49-F238E27FC236}">
                <a16:creationId xmlns:a16="http://schemas.microsoft.com/office/drawing/2014/main" id="{2100EEDF-D4BD-4D35-56D5-96B32C302861}"/>
              </a:ext>
            </a:extLst>
          </p:cNvPr>
          <p:cNvPicPr>
            <a:picLocks noChangeAspect="1"/>
          </p:cNvPicPr>
          <p:nvPr/>
        </p:nvPicPr>
        <p:blipFill>
          <a:blip r:embed="rId3"/>
          <a:stretch>
            <a:fillRect/>
          </a:stretch>
        </p:blipFill>
        <p:spPr>
          <a:xfrm>
            <a:off x="1063850" y="2218922"/>
            <a:ext cx="4775200" cy="26087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How </a:t>
            </a:r>
            <a:r>
              <a:rPr lang="en" sz="3800" dirty="0">
                <a:solidFill>
                  <a:schemeClr val="dk1"/>
                </a:solidFill>
              </a:rPr>
              <a:t>to Mongo - bash</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Installation</a:t>
            </a:r>
            <a:endParaRPr dirty="0">
              <a:solidFill>
                <a:srgbClr val="AAAAAA"/>
              </a:solidFill>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 name="TextBox 2">
            <a:extLst>
              <a:ext uri="{FF2B5EF4-FFF2-40B4-BE49-F238E27FC236}">
                <a16:creationId xmlns:a16="http://schemas.microsoft.com/office/drawing/2014/main" id="{D705C0DF-8DCB-2D90-F548-4364F06A539E}"/>
              </a:ext>
            </a:extLst>
          </p:cNvPr>
          <p:cNvSpPr txBox="1"/>
          <p:nvPr/>
        </p:nvSpPr>
        <p:spPr>
          <a:xfrm>
            <a:off x="998125" y="1702600"/>
            <a:ext cx="4967110" cy="307777"/>
          </a:xfrm>
          <a:prstGeom prst="rect">
            <a:avLst/>
          </a:prstGeom>
          <a:noFill/>
        </p:spPr>
        <p:txBody>
          <a:bodyPr wrap="square">
            <a:spAutoFit/>
          </a:bodyPr>
          <a:lstStyle/>
          <a:p>
            <a:r>
              <a:rPr lang="en-IN" dirty="0"/>
              <a:t>https://www.mongodb.com/try/download/shell</a:t>
            </a:r>
          </a:p>
        </p:txBody>
      </p:sp>
      <p:pic>
        <p:nvPicPr>
          <p:cNvPr id="4" name="Picture 3">
            <a:extLst>
              <a:ext uri="{FF2B5EF4-FFF2-40B4-BE49-F238E27FC236}">
                <a16:creationId xmlns:a16="http://schemas.microsoft.com/office/drawing/2014/main" id="{84779FFD-01C1-09EF-C01D-0519E59111AB}"/>
              </a:ext>
            </a:extLst>
          </p:cNvPr>
          <p:cNvPicPr>
            <a:picLocks noChangeAspect="1"/>
          </p:cNvPicPr>
          <p:nvPr/>
        </p:nvPicPr>
        <p:blipFill>
          <a:blip r:embed="rId3"/>
          <a:stretch>
            <a:fillRect/>
          </a:stretch>
        </p:blipFill>
        <p:spPr>
          <a:xfrm>
            <a:off x="1063850" y="2220908"/>
            <a:ext cx="5283200" cy="2562671"/>
          </a:xfrm>
          <a:prstGeom prst="rect">
            <a:avLst/>
          </a:prstGeom>
        </p:spPr>
      </p:pic>
    </p:spTree>
    <p:extLst>
      <p:ext uri="{BB962C8B-B14F-4D97-AF65-F5344CB8AC3E}">
        <p14:creationId xmlns:p14="http://schemas.microsoft.com/office/powerpoint/2010/main" val="4092028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5842942"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How </a:t>
            </a:r>
            <a:r>
              <a:rPr lang="en" sz="3800" dirty="0">
                <a:solidFill>
                  <a:schemeClr val="dk1"/>
                </a:solidFill>
              </a:rPr>
              <a:t>to Mongo - Compass</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Installation</a:t>
            </a:r>
            <a:endParaRPr dirty="0">
              <a:solidFill>
                <a:srgbClr val="AAAAAA"/>
              </a:solidFill>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 name="TextBox 2">
            <a:extLst>
              <a:ext uri="{FF2B5EF4-FFF2-40B4-BE49-F238E27FC236}">
                <a16:creationId xmlns:a16="http://schemas.microsoft.com/office/drawing/2014/main" id="{D705C0DF-8DCB-2D90-F548-4364F06A539E}"/>
              </a:ext>
            </a:extLst>
          </p:cNvPr>
          <p:cNvSpPr txBox="1"/>
          <p:nvPr/>
        </p:nvSpPr>
        <p:spPr>
          <a:xfrm>
            <a:off x="998125" y="1702600"/>
            <a:ext cx="4967110" cy="307777"/>
          </a:xfrm>
          <a:prstGeom prst="rect">
            <a:avLst/>
          </a:prstGeom>
          <a:noFill/>
        </p:spPr>
        <p:txBody>
          <a:bodyPr wrap="square">
            <a:spAutoFit/>
          </a:bodyPr>
          <a:lstStyle/>
          <a:p>
            <a:r>
              <a:rPr lang="en-IN" dirty="0"/>
              <a:t>https://www.mongodb.com/try/download/shell</a:t>
            </a:r>
          </a:p>
        </p:txBody>
      </p:sp>
      <p:pic>
        <p:nvPicPr>
          <p:cNvPr id="4" name="Picture 3">
            <a:extLst>
              <a:ext uri="{FF2B5EF4-FFF2-40B4-BE49-F238E27FC236}">
                <a16:creationId xmlns:a16="http://schemas.microsoft.com/office/drawing/2014/main" id="{84779FFD-01C1-09EF-C01D-0519E59111AB}"/>
              </a:ext>
            </a:extLst>
          </p:cNvPr>
          <p:cNvPicPr>
            <a:picLocks noChangeAspect="1"/>
          </p:cNvPicPr>
          <p:nvPr/>
        </p:nvPicPr>
        <p:blipFill>
          <a:blip r:embed="rId3"/>
          <a:stretch>
            <a:fillRect/>
          </a:stretch>
        </p:blipFill>
        <p:spPr>
          <a:xfrm>
            <a:off x="1063850" y="2220908"/>
            <a:ext cx="5283200" cy="2562671"/>
          </a:xfrm>
          <a:prstGeom prst="rect">
            <a:avLst/>
          </a:prstGeom>
        </p:spPr>
      </p:pic>
      <p:pic>
        <p:nvPicPr>
          <p:cNvPr id="5" name="Picture 4">
            <a:extLst>
              <a:ext uri="{FF2B5EF4-FFF2-40B4-BE49-F238E27FC236}">
                <a16:creationId xmlns:a16="http://schemas.microsoft.com/office/drawing/2014/main" id="{41902F38-B4E9-35F2-2E3D-9E338CB0A3E9}"/>
              </a:ext>
            </a:extLst>
          </p:cNvPr>
          <p:cNvPicPr>
            <a:picLocks noChangeAspect="1"/>
          </p:cNvPicPr>
          <p:nvPr/>
        </p:nvPicPr>
        <p:blipFill>
          <a:blip r:embed="rId4"/>
          <a:stretch>
            <a:fillRect/>
          </a:stretch>
        </p:blipFill>
        <p:spPr>
          <a:xfrm>
            <a:off x="1030212" y="2220908"/>
            <a:ext cx="5204463" cy="2737636"/>
          </a:xfrm>
          <a:prstGeom prst="rect">
            <a:avLst/>
          </a:prstGeom>
        </p:spPr>
      </p:pic>
    </p:spTree>
    <p:extLst>
      <p:ext uri="{BB962C8B-B14F-4D97-AF65-F5344CB8AC3E}">
        <p14:creationId xmlns:p14="http://schemas.microsoft.com/office/powerpoint/2010/main" val="3787771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6181608"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How </a:t>
            </a:r>
            <a:r>
              <a:rPr lang="en" sz="3800" dirty="0">
                <a:solidFill>
                  <a:schemeClr val="dk1"/>
                </a:solidFill>
              </a:rPr>
              <a:t>to Mongo - mongosh</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Installation</a:t>
            </a:r>
            <a:endParaRPr dirty="0">
              <a:solidFill>
                <a:srgbClr val="AAAAAA"/>
              </a:solidFill>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 name="TextBox 2">
            <a:extLst>
              <a:ext uri="{FF2B5EF4-FFF2-40B4-BE49-F238E27FC236}">
                <a16:creationId xmlns:a16="http://schemas.microsoft.com/office/drawing/2014/main" id="{D705C0DF-8DCB-2D90-F548-4364F06A539E}"/>
              </a:ext>
            </a:extLst>
          </p:cNvPr>
          <p:cNvSpPr txBox="1"/>
          <p:nvPr/>
        </p:nvSpPr>
        <p:spPr>
          <a:xfrm>
            <a:off x="998125" y="1702600"/>
            <a:ext cx="4967110" cy="307777"/>
          </a:xfrm>
          <a:prstGeom prst="rect">
            <a:avLst/>
          </a:prstGeom>
          <a:noFill/>
        </p:spPr>
        <p:txBody>
          <a:bodyPr wrap="square">
            <a:spAutoFit/>
          </a:bodyPr>
          <a:lstStyle/>
          <a:p>
            <a:r>
              <a:rPr lang="en-IN" dirty="0"/>
              <a:t>https://www.mongodb.com/try/download/shell</a:t>
            </a:r>
          </a:p>
        </p:txBody>
      </p:sp>
      <p:pic>
        <p:nvPicPr>
          <p:cNvPr id="4" name="Picture 3">
            <a:extLst>
              <a:ext uri="{FF2B5EF4-FFF2-40B4-BE49-F238E27FC236}">
                <a16:creationId xmlns:a16="http://schemas.microsoft.com/office/drawing/2014/main" id="{84779FFD-01C1-09EF-C01D-0519E59111AB}"/>
              </a:ext>
            </a:extLst>
          </p:cNvPr>
          <p:cNvPicPr>
            <a:picLocks noChangeAspect="1"/>
          </p:cNvPicPr>
          <p:nvPr/>
        </p:nvPicPr>
        <p:blipFill>
          <a:blip r:embed="rId3"/>
          <a:stretch>
            <a:fillRect/>
          </a:stretch>
        </p:blipFill>
        <p:spPr>
          <a:xfrm>
            <a:off x="1063850" y="2220908"/>
            <a:ext cx="5283200" cy="2562671"/>
          </a:xfrm>
          <a:prstGeom prst="rect">
            <a:avLst/>
          </a:prstGeom>
        </p:spPr>
      </p:pic>
      <p:pic>
        <p:nvPicPr>
          <p:cNvPr id="5" name="Picture 4">
            <a:extLst>
              <a:ext uri="{FF2B5EF4-FFF2-40B4-BE49-F238E27FC236}">
                <a16:creationId xmlns:a16="http://schemas.microsoft.com/office/drawing/2014/main" id="{F90AEB27-C632-2D6F-5BFE-4C603925CD91}"/>
              </a:ext>
            </a:extLst>
          </p:cNvPr>
          <p:cNvPicPr>
            <a:picLocks noChangeAspect="1"/>
          </p:cNvPicPr>
          <p:nvPr/>
        </p:nvPicPr>
        <p:blipFill>
          <a:blip r:embed="rId4"/>
          <a:stretch>
            <a:fillRect/>
          </a:stretch>
        </p:blipFill>
        <p:spPr>
          <a:xfrm>
            <a:off x="1063850" y="2125993"/>
            <a:ext cx="6621691" cy="5143500"/>
          </a:xfrm>
          <a:prstGeom prst="rect">
            <a:avLst/>
          </a:prstGeom>
        </p:spPr>
      </p:pic>
    </p:spTree>
    <p:extLst>
      <p:ext uri="{BB962C8B-B14F-4D97-AF65-F5344CB8AC3E}">
        <p14:creationId xmlns:p14="http://schemas.microsoft.com/office/powerpoint/2010/main" val="3876557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How </a:t>
            </a:r>
            <a:r>
              <a:rPr lang="en" sz="3800" dirty="0">
                <a:solidFill>
                  <a:schemeClr val="dk1"/>
                </a:solidFill>
              </a:rPr>
              <a:t>to Mongo - Query</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Query</a:t>
            </a:r>
            <a:endParaRPr dirty="0">
              <a:solidFill>
                <a:srgbClr val="AAAAAA"/>
              </a:solidFill>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pic>
        <p:nvPicPr>
          <p:cNvPr id="5" name="Picture 4">
            <a:extLst>
              <a:ext uri="{FF2B5EF4-FFF2-40B4-BE49-F238E27FC236}">
                <a16:creationId xmlns:a16="http://schemas.microsoft.com/office/drawing/2014/main" id="{6E8D7C6A-82DF-D7C4-265F-1C66A57129E7}"/>
              </a:ext>
            </a:extLst>
          </p:cNvPr>
          <p:cNvPicPr>
            <a:picLocks noChangeAspect="1"/>
          </p:cNvPicPr>
          <p:nvPr/>
        </p:nvPicPr>
        <p:blipFill>
          <a:blip r:embed="rId3"/>
          <a:stretch>
            <a:fillRect/>
          </a:stretch>
        </p:blipFill>
        <p:spPr>
          <a:xfrm>
            <a:off x="1160285" y="1805135"/>
            <a:ext cx="5335583" cy="2890343"/>
          </a:xfrm>
          <a:prstGeom prst="rect">
            <a:avLst/>
          </a:prstGeom>
        </p:spPr>
      </p:pic>
    </p:spTree>
    <p:extLst>
      <p:ext uri="{BB962C8B-B14F-4D97-AF65-F5344CB8AC3E}">
        <p14:creationId xmlns:p14="http://schemas.microsoft.com/office/powerpoint/2010/main" val="3602438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How </a:t>
            </a:r>
            <a:r>
              <a:rPr lang="en" sz="3800" dirty="0">
                <a:solidFill>
                  <a:schemeClr val="dk1"/>
                </a:solidFill>
              </a:rPr>
              <a:t>to Mongo - Query</a:t>
            </a:r>
            <a:endParaRPr sz="3800" dirty="0">
              <a:solidFill>
                <a:schemeClr val="dk1"/>
              </a:solidFill>
            </a:endParaRPr>
          </a:p>
        </p:txBody>
      </p:sp>
      <p:sp>
        <p:nvSpPr>
          <p:cNvPr id="131" name="Google Shape;131;p19"/>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Query</a:t>
            </a:r>
            <a:endParaRPr dirty="0">
              <a:solidFill>
                <a:srgbClr val="AAAAAA"/>
              </a:solidFill>
            </a:endParaRPr>
          </a:p>
        </p:txBody>
      </p:sp>
      <p:grpSp>
        <p:nvGrpSpPr>
          <p:cNvPr id="133" name="Google Shape;133;p19"/>
          <p:cNvGrpSpPr/>
          <p:nvPr/>
        </p:nvGrpSpPr>
        <p:grpSpPr>
          <a:xfrm>
            <a:off x="8315678" y="1805135"/>
            <a:ext cx="782900" cy="713938"/>
            <a:chOff x="-5251625" y="3272950"/>
            <a:chExt cx="292225" cy="292250"/>
          </a:xfrm>
        </p:grpSpPr>
        <p:sp>
          <p:nvSpPr>
            <p:cNvPr id="134" name="Google Shape;134;p1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19"/>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9"/>
          <p:cNvGrpSpPr/>
          <p:nvPr/>
        </p:nvGrpSpPr>
        <p:grpSpPr>
          <a:xfrm>
            <a:off x="8341432" y="2164502"/>
            <a:ext cx="723508" cy="698646"/>
            <a:chOff x="1492675" y="2620775"/>
            <a:chExt cx="481825" cy="481825"/>
          </a:xfrm>
        </p:grpSpPr>
        <p:sp>
          <p:nvSpPr>
            <p:cNvPr id="139" name="Google Shape;139;p19"/>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0" name="Google Shape;140;p19"/>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pic>
        <p:nvPicPr>
          <p:cNvPr id="5" name="Picture 4">
            <a:extLst>
              <a:ext uri="{FF2B5EF4-FFF2-40B4-BE49-F238E27FC236}">
                <a16:creationId xmlns:a16="http://schemas.microsoft.com/office/drawing/2014/main" id="{6E8D7C6A-82DF-D7C4-265F-1C66A57129E7}"/>
              </a:ext>
            </a:extLst>
          </p:cNvPr>
          <p:cNvPicPr>
            <a:picLocks noChangeAspect="1"/>
          </p:cNvPicPr>
          <p:nvPr/>
        </p:nvPicPr>
        <p:blipFill>
          <a:blip r:embed="rId3"/>
          <a:stretch>
            <a:fillRect/>
          </a:stretch>
        </p:blipFill>
        <p:spPr>
          <a:xfrm>
            <a:off x="1160285" y="1805135"/>
            <a:ext cx="5335583" cy="2890343"/>
          </a:xfrm>
          <a:prstGeom prst="rect">
            <a:avLst/>
          </a:prstGeom>
        </p:spPr>
      </p:pic>
      <p:pic>
        <p:nvPicPr>
          <p:cNvPr id="3" name="Picture 2">
            <a:extLst>
              <a:ext uri="{FF2B5EF4-FFF2-40B4-BE49-F238E27FC236}">
                <a16:creationId xmlns:a16="http://schemas.microsoft.com/office/drawing/2014/main" id="{328E96CB-3511-E7DD-F11D-40A18283177B}"/>
              </a:ext>
            </a:extLst>
          </p:cNvPr>
          <p:cNvPicPr>
            <a:picLocks noChangeAspect="1"/>
          </p:cNvPicPr>
          <p:nvPr/>
        </p:nvPicPr>
        <p:blipFill>
          <a:blip r:embed="rId4"/>
          <a:stretch>
            <a:fillRect/>
          </a:stretch>
        </p:blipFill>
        <p:spPr>
          <a:xfrm>
            <a:off x="1160285" y="1805135"/>
            <a:ext cx="5361337" cy="2890343"/>
          </a:xfrm>
          <a:prstGeom prst="rect">
            <a:avLst/>
          </a:prstGeom>
        </p:spPr>
      </p:pic>
    </p:spTree>
    <p:extLst>
      <p:ext uri="{BB962C8B-B14F-4D97-AF65-F5344CB8AC3E}">
        <p14:creationId xmlns:p14="http://schemas.microsoft.com/office/powerpoint/2010/main" val="3303097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998124" y="1083500"/>
            <a:ext cx="6159031"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Security</a:t>
            </a:r>
            <a:r>
              <a:rPr lang="en" sz="3800" dirty="0">
                <a:solidFill>
                  <a:schemeClr val="dk1"/>
                </a:solidFill>
              </a:rPr>
              <a:t> side of MongoDB </a:t>
            </a:r>
            <a:endParaRPr sz="3800" dirty="0">
              <a:solidFill>
                <a:schemeClr val="dk1"/>
              </a:solidFill>
            </a:endParaRPr>
          </a:p>
        </p:txBody>
      </p:sp>
      <p:sp>
        <p:nvSpPr>
          <p:cNvPr id="119" name="Google Shape;119;p18"/>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User Based Role access</a:t>
            </a:r>
            <a:endParaRPr dirty="0">
              <a:solidFill>
                <a:srgbClr val="AAAAAA"/>
              </a:solidFill>
            </a:endParaRPr>
          </a:p>
        </p:txBody>
      </p:sp>
      <p:grpSp>
        <p:nvGrpSpPr>
          <p:cNvPr id="7" name="Google Shape;597;p27">
            <a:extLst>
              <a:ext uri="{FF2B5EF4-FFF2-40B4-BE49-F238E27FC236}">
                <a16:creationId xmlns:a16="http://schemas.microsoft.com/office/drawing/2014/main" id="{B7C4A182-FFFA-C4C5-5249-E53ED524AA1B}"/>
              </a:ext>
            </a:extLst>
          </p:cNvPr>
          <p:cNvGrpSpPr/>
          <p:nvPr/>
        </p:nvGrpSpPr>
        <p:grpSpPr>
          <a:xfrm>
            <a:off x="8224897" y="1841400"/>
            <a:ext cx="919103" cy="807900"/>
            <a:chOff x="-3771675" y="3971775"/>
            <a:chExt cx="291300" cy="292025"/>
          </a:xfrm>
        </p:grpSpPr>
        <p:sp>
          <p:nvSpPr>
            <p:cNvPr id="8" name="Google Shape;598;p27">
              <a:extLst>
                <a:ext uri="{FF2B5EF4-FFF2-40B4-BE49-F238E27FC236}">
                  <a16:creationId xmlns:a16="http://schemas.microsoft.com/office/drawing/2014/main" id="{D2FE0D7B-3E3C-5A60-BE06-61BBA5A4139C}"/>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99;p27">
              <a:extLst>
                <a:ext uri="{FF2B5EF4-FFF2-40B4-BE49-F238E27FC236}">
                  <a16:creationId xmlns:a16="http://schemas.microsoft.com/office/drawing/2014/main" id="{C827CE1C-8085-CC92-CF5C-4F09FEA85B29}"/>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00;p27">
              <a:extLst>
                <a:ext uri="{FF2B5EF4-FFF2-40B4-BE49-F238E27FC236}">
                  <a16:creationId xmlns:a16="http://schemas.microsoft.com/office/drawing/2014/main" id="{DAE995A8-357C-08CE-EF17-6BDB4699FD1C}"/>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01;p27">
              <a:extLst>
                <a:ext uri="{FF2B5EF4-FFF2-40B4-BE49-F238E27FC236}">
                  <a16:creationId xmlns:a16="http://schemas.microsoft.com/office/drawing/2014/main" id="{4A47D996-CE8A-2A43-F837-40C056290EEF}"/>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02;p27">
              <a:extLst>
                <a:ext uri="{FF2B5EF4-FFF2-40B4-BE49-F238E27FC236}">
                  <a16:creationId xmlns:a16="http://schemas.microsoft.com/office/drawing/2014/main" id="{DD45D060-6108-3B11-9C3B-23A3037C5F06}"/>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E6D78327-B15A-0807-9E29-9AF4F64EE44A}"/>
              </a:ext>
            </a:extLst>
          </p:cNvPr>
          <p:cNvPicPr>
            <a:picLocks noChangeAspect="1"/>
          </p:cNvPicPr>
          <p:nvPr/>
        </p:nvPicPr>
        <p:blipFill>
          <a:blip r:embed="rId3"/>
          <a:stretch>
            <a:fillRect/>
          </a:stretch>
        </p:blipFill>
        <p:spPr>
          <a:xfrm>
            <a:off x="1186001" y="1768226"/>
            <a:ext cx="4785821" cy="1607047"/>
          </a:xfrm>
          <a:prstGeom prst="rect">
            <a:avLst/>
          </a:prstGeom>
        </p:spPr>
      </p:pic>
      <p:pic>
        <p:nvPicPr>
          <p:cNvPr id="6" name="Picture 5">
            <a:extLst>
              <a:ext uri="{FF2B5EF4-FFF2-40B4-BE49-F238E27FC236}">
                <a16:creationId xmlns:a16="http://schemas.microsoft.com/office/drawing/2014/main" id="{C97B5588-F9F6-A8F9-725A-CBABC0F88691}"/>
              </a:ext>
            </a:extLst>
          </p:cNvPr>
          <p:cNvPicPr>
            <a:picLocks noChangeAspect="1"/>
          </p:cNvPicPr>
          <p:nvPr/>
        </p:nvPicPr>
        <p:blipFill>
          <a:blip r:embed="rId4"/>
          <a:stretch>
            <a:fillRect/>
          </a:stretch>
        </p:blipFill>
        <p:spPr>
          <a:xfrm>
            <a:off x="1186001" y="3709205"/>
            <a:ext cx="4811536" cy="1032128"/>
          </a:xfrm>
          <a:prstGeom prst="rect">
            <a:avLst/>
          </a:prstGeom>
        </p:spPr>
      </p:pic>
      <p:grpSp>
        <p:nvGrpSpPr>
          <p:cNvPr id="2" name="Google Shape;122;p18">
            <a:extLst>
              <a:ext uri="{FF2B5EF4-FFF2-40B4-BE49-F238E27FC236}">
                <a16:creationId xmlns:a16="http://schemas.microsoft.com/office/drawing/2014/main" id="{0E5B8957-4525-8E85-884E-F59CCA5123B3}"/>
              </a:ext>
            </a:extLst>
          </p:cNvPr>
          <p:cNvGrpSpPr/>
          <p:nvPr/>
        </p:nvGrpSpPr>
        <p:grpSpPr>
          <a:xfrm>
            <a:off x="7467458" y="1398823"/>
            <a:ext cx="2053848" cy="1847242"/>
            <a:chOff x="-1333200" y="2770450"/>
            <a:chExt cx="291450" cy="292225"/>
          </a:xfrm>
        </p:grpSpPr>
        <p:sp>
          <p:nvSpPr>
            <p:cNvPr id="4" name="Google Shape;123;p18">
              <a:extLst>
                <a:ext uri="{FF2B5EF4-FFF2-40B4-BE49-F238E27FC236}">
                  <a16:creationId xmlns:a16="http://schemas.microsoft.com/office/drawing/2014/main" id="{FC6956EF-A886-7070-7932-1AE903AA1F77}"/>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24;p18">
              <a:extLst>
                <a:ext uri="{FF2B5EF4-FFF2-40B4-BE49-F238E27FC236}">
                  <a16:creationId xmlns:a16="http://schemas.microsoft.com/office/drawing/2014/main" id="{A079D842-A28F-452F-FDB2-9CD1C00B2171}"/>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64088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998124" y="1083500"/>
            <a:ext cx="6159031"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4"/>
                </a:solidFill>
              </a:rPr>
              <a:t>Security</a:t>
            </a:r>
            <a:r>
              <a:rPr lang="en" sz="3800" dirty="0">
                <a:solidFill>
                  <a:schemeClr val="dk1"/>
                </a:solidFill>
              </a:rPr>
              <a:t> side of MongoDB </a:t>
            </a:r>
            <a:endParaRPr sz="3800" dirty="0">
              <a:solidFill>
                <a:schemeClr val="dk1"/>
              </a:solidFill>
            </a:endParaRPr>
          </a:p>
        </p:txBody>
      </p:sp>
      <p:sp>
        <p:nvSpPr>
          <p:cNvPr id="119" name="Google Shape;119;p18"/>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User Based Role access</a:t>
            </a:r>
            <a:endParaRPr dirty="0">
              <a:solidFill>
                <a:srgbClr val="AAAAAA"/>
              </a:solidFill>
            </a:endParaRPr>
          </a:p>
        </p:txBody>
      </p:sp>
      <p:grpSp>
        <p:nvGrpSpPr>
          <p:cNvPr id="7" name="Google Shape;597;p27">
            <a:extLst>
              <a:ext uri="{FF2B5EF4-FFF2-40B4-BE49-F238E27FC236}">
                <a16:creationId xmlns:a16="http://schemas.microsoft.com/office/drawing/2014/main" id="{B7C4A182-FFFA-C4C5-5249-E53ED524AA1B}"/>
              </a:ext>
            </a:extLst>
          </p:cNvPr>
          <p:cNvGrpSpPr/>
          <p:nvPr/>
        </p:nvGrpSpPr>
        <p:grpSpPr>
          <a:xfrm>
            <a:off x="8224897" y="1841400"/>
            <a:ext cx="919103" cy="807900"/>
            <a:chOff x="-3771675" y="3971775"/>
            <a:chExt cx="291300" cy="292025"/>
          </a:xfrm>
        </p:grpSpPr>
        <p:sp>
          <p:nvSpPr>
            <p:cNvPr id="8" name="Google Shape;598;p27">
              <a:extLst>
                <a:ext uri="{FF2B5EF4-FFF2-40B4-BE49-F238E27FC236}">
                  <a16:creationId xmlns:a16="http://schemas.microsoft.com/office/drawing/2014/main" id="{D2FE0D7B-3E3C-5A60-BE06-61BBA5A4139C}"/>
                </a:ext>
              </a:extLst>
            </p:cNvPr>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99;p27">
              <a:extLst>
                <a:ext uri="{FF2B5EF4-FFF2-40B4-BE49-F238E27FC236}">
                  <a16:creationId xmlns:a16="http://schemas.microsoft.com/office/drawing/2014/main" id="{C827CE1C-8085-CC92-CF5C-4F09FEA85B29}"/>
                </a:ext>
              </a:extLst>
            </p:cNvPr>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00;p27">
              <a:extLst>
                <a:ext uri="{FF2B5EF4-FFF2-40B4-BE49-F238E27FC236}">
                  <a16:creationId xmlns:a16="http://schemas.microsoft.com/office/drawing/2014/main" id="{DAE995A8-357C-08CE-EF17-6BDB4699FD1C}"/>
                </a:ext>
              </a:extLst>
            </p:cNvPr>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01;p27">
              <a:extLst>
                <a:ext uri="{FF2B5EF4-FFF2-40B4-BE49-F238E27FC236}">
                  <a16:creationId xmlns:a16="http://schemas.microsoft.com/office/drawing/2014/main" id="{4A47D996-CE8A-2A43-F837-40C056290EEF}"/>
                </a:ext>
              </a:extLst>
            </p:cNvPr>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02;p27">
              <a:extLst>
                <a:ext uri="{FF2B5EF4-FFF2-40B4-BE49-F238E27FC236}">
                  <a16:creationId xmlns:a16="http://schemas.microsoft.com/office/drawing/2014/main" id="{DD45D060-6108-3B11-9C3B-23A3037C5F06}"/>
                </a:ext>
              </a:extLst>
            </p:cNvPr>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B365688B-CBFC-20D2-C195-B5085F0A2561}"/>
              </a:ext>
            </a:extLst>
          </p:cNvPr>
          <p:cNvPicPr>
            <a:picLocks noChangeAspect="1"/>
          </p:cNvPicPr>
          <p:nvPr/>
        </p:nvPicPr>
        <p:blipFill>
          <a:blip r:embed="rId3"/>
          <a:stretch>
            <a:fillRect/>
          </a:stretch>
        </p:blipFill>
        <p:spPr>
          <a:xfrm>
            <a:off x="1095007" y="1662220"/>
            <a:ext cx="6739440" cy="3301300"/>
          </a:xfrm>
          <a:prstGeom prst="rect">
            <a:avLst/>
          </a:prstGeom>
        </p:spPr>
      </p:pic>
      <p:grpSp>
        <p:nvGrpSpPr>
          <p:cNvPr id="2" name="Google Shape;122;p18">
            <a:extLst>
              <a:ext uri="{FF2B5EF4-FFF2-40B4-BE49-F238E27FC236}">
                <a16:creationId xmlns:a16="http://schemas.microsoft.com/office/drawing/2014/main" id="{3A1891C5-2B88-59AD-D361-D943C237D85B}"/>
              </a:ext>
            </a:extLst>
          </p:cNvPr>
          <p:cNvGrpSpPr/>
          <p:nvPr/>
        </p:nvGrpSpPr>
        <p:grpSpPr>
          <a:xfrm>
            <a:off x="7467458" y="1398823"/>
            <a:ext cx="2053848" cy="1847242"/>
            <a:chOff x="-1333200" y="2770450"/>
            <a:chExt cx="291450" cy="292225"/>
          </a:xfrm>
        </p:grpSpPr>
        <p:sp>
          <p:nvSpPr>
            <p:cNvPr id="3" name="Google Shape;123;p18">
              <a:extLst>
                <a:ext uri="{FF2B5EF4-FFF2-40B4-BE49-F238E27FC236}">
                  <a16:creationId xmlns:a16="http://schemas.microsoft.com/office/drawing/2014/main" id="{160CD515-E2C0-A437-21A5-F13BC1BBCBC8}"/>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24;p18">
              <a:extLst>
                <a:ext uri="{FF2B5EF4-FFF2-40B4-BE49-F238E27FC236}">
                  <a16:creationId xmlns:a16="http://schemas.microsoft.com/office/drawing/2014/main" id="{8256A665-E58B-D91F-13AE-D1E0872D3702}"/>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62196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Other </a:t>
            </a:r>
            <a:r>
              <a:rPr lang="en" sz="3800" dirty="0">
                <a:solidFill>
                  <a:schemeClr val="tx1"/>
                </a:solidFill>
              </a:rPr>
              <a:t>concetps</a:t>
            </a:r>
            <a:endParaRPr sz="3800" dirty="0">
              <a:solidFill>
                <a:schemeClr val="tx1"/>
              </a:solidFill>
            </a:endParaRPr>
          </a:p>
        </p:txBody>
      </p:sp>
      <p:sp>
        <p:nvSpPr>
          <p:cNvPr id="162" name="Google Shape;162;p21"/>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Advanced NoSQL</a:t>
            </a:r>
            <a:endParaRPr dirty="0">
              <a:solidFill>
                <a:srgbClr val="AAAAAA"/>
              </a:solidFill>
            </a:endParaRPr>
          </a:p>
        </p:txBody>
      </p:sp>
      <p:grpSp>
        <p:nvGrpSpPr>
          <p:cNvPr id="164" name="Google Shape;164;p21"/>
          <p:cNvGrpSpPr/>
          <p:nvPr/>
        </p:nvGrpSpPr>
        <p:grpSpPr>
          <a:xfrm>
            <a:off x="8315678" y="1805135"/>
            <a:ext cx="782900" cy="713938"/>
            <a:chOff x="-5251625" y="3272950"/>
            <a:chExt cx="292225" cy="292250"/>
          </a:xfrm>
        </p:grpSpPr>
        <p:sp>
          <p:nvSpPr>
            <p:cNvPr id="165" name="Google Shape;165;p21"/>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1"/>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1"/>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21"/>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p:nvPr/>
        </p:nvSpPr>
        <p:spPr>
          <a:xfrm>
            <a:off x="8533016" y="2398125"/>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1"/>
          <p:cNvSpPr/>
          <p:nvPr/>
        </p:nvSpPr>
        <p:spPr>
          <a:xfrm>
            <a:off x="8107149" y="1891300"/>
            <a:ext cx="1218600" cy="1218600"/>
          </a:xfrm>
          <a:prstGeom prst="ellipse">
            <a:avLst/>
          </a:prstGeom>
          <a:solidFill>
            <a:schemeClr val="accent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1"/>
          <p:cNvSpPr/>
          <p:nvPr/>
        </p:nvSpPr>
        <p:spPr>
          <a:xfrm>
            <a:off x="8380525" y="2209424"/>
            <a:ext cx="649181" cy="599058"/>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63;p21">
            <a:extLst>
              <a:ext uri="{FF2B5EF4-FFF2-40B4-BE49-F238E27FC236}">
                <a16:creationId xmlns:a16="http://schemas.microsoft.com/office/drawing/2014/main" id="{62426D64-D9FE-FF1D-F642-9C9DE427336C}"/>
              </a:ext>
            </a:extLst>
          </p:cNvPr>
          <p:cNvSpPr txBox="1"/>
          <p:nvPr/>
        </p:nvSpPr>
        <p:spPr>
          <a:xfrm>
            <a:off x="826360" y="1755236"/>
            <a:ext cx="6912900" cy="3428186"/>
          </a:xfrm>
          <a:prstGeom prst="rect">
            <a:avLst/>
          </a:prstGeom>
          <a:noFill/>
          <a:ln>
            <a:noFill/>
          </a:ln>
        </p:spPr>
        <p:txBody>
          <a:bodyPr spcFirstLastPara="1" wrap="square" lIns="91425" tIns="91425" rIns="91425" bIns="91425" anchor="ctr" anchorCtr="0">
            <a:noAutofit/>
          </a:bodyPr>
          <a:lstStyle/>
          <a:p>
            <a:pPr marL="457200" marR="0" lvl="0" indent="-314325" algn="l" rtl="0">
              <a:lnSpc>
                <a:spcPct val="138461"/>
              </a:lnSpc>
              <a:spcBef>
                <a:spcPts val="1400"/>
              </a:spcBef>
              <a:spcAft>
                <a:spcPts val="0"/>
              </a:spcAft>
              <a:buClr>
                <a:schemeClr val="dk1"/>
              </a:buClr>
              <a:buSzPts val="1350"/>
              <a:buChar char="●"/>
            </a:pPr>
            <a:r>
              <a:rPr lang="en-US" sz="1300" b="1" dirty="0">
                <a:solidFill>
                  <a:srgbClr val="202124"/>
                </a:solidFill>
                <a:highlight>
                  <a:srgbClr val="FFFFFF"/>
                </a:highlight>
              </a:rPr>
              <a:t>Sharding</a:t>
            </a:r>
          </a:p>
          <a:p>
            <a:pPr marL="914400" marR="0" lvl="1" indent="-298450" algn="l" rtl="0">
              <a:lnSpc>
                <a:spcPct val="138461"/>
              </a:lnSpc>
              <a:spcBef>
                <a:spcPts val="0"/>
              </a:spcBef>
              <a:spcAft>
                <a:spcPts val="0"/>
              </a:spcAft>
              <a:buClr>
                <a:schemeClr val="dk2"/>
              </a:buClr>
              <a:buSzPts val="1100"/>
              <a:buChar char="○"/>
            </a:pPr>
            <a:r>
              <a:rPr lang="en-US" sz="1000" dirty="0">
                <a:solidFill>
                  <a:schemeClr val="dk2"/>
                </a:solidFill>
                <a:highlight>
                  <a:srgbClr val="FFFFFF"/>
                </a:highlight>
              </a:rPr>
              <a:t>MongoDB employs sharding to horizontally partition data across multiple servers. Sharding enhances scalability by distributing data across multiple machines, enabling the database to handle large data volumes and high throughput. MongoDB's sharding architecture includes shard servers, query routers (mongos), and config servers.</a:t>
            </a:r>
            <a:endParaRPr lang="en-US" sz="1100" b="1" dirty="0">
              <a:solidFill>
                <a:schemeClr val="dk2"/>
              </a:solidFill>
              <a:highlight>
                <a:srgbClr val="FFFFFF"/>
              </a:highlight>
            </a:endParaRPr>
          </a:p>
          <a:p>
            <a:pPr marL="457200" marR="0" lvl="0" indent="-314325" algn="l" rtl="0">
              <a:lnSpc>
                <a:spcPct val="138461"/>
              </a:lnSpc>
              <a:spcBef>
                <a:spcPts val="0"/>
              </a:spcBef>
              <a:spcAft>
                <a:spcPts val="0"/>
              </a:spcAft>
              <a:buClr>
                <a:schemeClr val="dk1"/>
              </a:buClr>
              <a:buSzPts val="1350"/>
              <a:buChar char="●"/>
            </a:pPr>
            <a:r>
              <a:rPr lang="en-US" sz="1300" b="1" dirty="0">
                <a:solidFill>
                  <a:srgbClr val="202124"/>
                </a:solidFill>
                <a:highlight>
                  <a:srgbClr val="FFFFFF"/>
                </a:highlight>
              </a:rPr>
              <a:t>Replication:</a:t>
            </a:r>
          </a:p>
          <a:p>
            <a:pPr marL="914400" marR="0" lvl="1" indent="-298450" algn="l" rtl="0">
              <a:lnSpc>
                <a:spcPct val="138461"/>
              </a:lnSpc>
              <a:spcBef>
                <a:spcPts val="0"/>
              </a:spcBef>
              <a:spcAft>
                <a:spcPts val="0"/>
              </a:spcAft>
              <a:buClr>
                <a:schemeClr val="dk2"/>
              </a:buClr>
              <a:buSzPts val="1100"/>
              <a:buChar char="○"/>
            </a:pPr>
            <a:r>
              <a:rPr lang="en-US" sz="1000" b="1" dirty="0">
                <a:solidFill>
                  <a:schemeClr val="dk2"/>
                </a:solidFill>
                <a:highlight>
                  <a:srgbClr val="FFFFFF"/>
                </a:highlight>
              </a:rPr>
              <a:t>Master-Slave Replication:</a:t>
            </a:r>
            <a:r>
              <a:rPr lang="en-US" sz="1000" dirty="0">
                <a:solidFill>
                  <a:schemeClr val="dk2"/>
                </a:solidFill>
                <a:highlight>
                  <a:srgbClr val="FFFFFF"/>
                </a:highlight>
              </a:rPr>
              <a:t> In this configuration, one node (the master) accepts write operations, while other nodes (slaves) replicate data from the master for read operations. It enhances fault tolerance and read scalability but does not automatically handle failover.</a:t>
            </a:r>
          </a:p>
          <a:p>
            <a:pPr marL="914400" marR="0" lvl="1" indent="-298450" algn="l" rtl="0">
              <a:lnSpc>
                <a:spcPct val="138461"/>
              </a:lnSpc>
              <a:spcBef>
                <a:spcPts val="0"/>
              </a:spcBef>
              <a:spcAft>
                <a:spcPts val="0"/>
              </a:spcAft>
              <a:buClr>
                <a:schemeClr val="dk2"/>
              </a:buClr>
              <a:buSzPts val="1100"/>
              <a:buChar char="○"/>
            </a:pPr>
            <a:r>
              <a:rPr lang="en-US" sz="1000" b="1" dirty="0">
                <a:solidFill>
                  <a:schemeClr val="dk2"/>
                </a:solidFill>
                <a:highlight>
                  <a:srgbClr val="FFFFFF"/>
                </a:highlight>
              </a:rPr>
              <a:t>Masterless Replication (Replica Sets): </a:t>
            </a:r>
            <a:r>
              <a:rPr lang="en-US" sz="1000" dirty="0">
                <a:solidFill>
                  <a:schemeClr val="dk2"/>
                </a:solidFill>
                <a:highlight>
                  <a:srgbClr val="FFFFFF"/>
                </a:highlight>
              </a:rPr>
              <a:t>MongoDB's primary method for replication is through replica sets. Replica sets provide automated failover, data redundancy, and read scaling. Each replica set consists of multiple nodes (usually an odd number) with one primary and multiple secondaries. If the primary fails, a new primary is automatically elected from the available secondaries.</a:t>
            </a:r>
          </a:p>
          <a:p>
            <a:pPr marL="914400" marR="0" lvl="1" indent="-298450" algn="l" rtl="0">
              <a:lnSpc>
                <a:spcPct val="138461"/>
              </a:lnSpc>
              <a:spcBef>
                <a:spcPts val="0"/>
              </a:spcBef>
              <a:spcAft>
                <a:spcPts val="0"/>
              </a:spcAft>
              <a:buClr>
                <a:schemeClr val="dk2"/>
              </a:buClr>
              <a:buSzPts val="1100"/>
              <a:buChar char="○"/>
            </a:pPr>
            <a:r>
              <a:rPr lang="en-US" sz="1000" b="1" dirty="0">
                <a:solidFill>
                  <a:schemeClr val="dk2"/>
                </a:solidFill>
                <a:highlight>
                  <a:srgbClr val="FFFFFF"/>
                </a:highlight>
              </a:rPr>
              <a:t>Peer-to-Peer Replication: </a:t>
            </a:r>
            <a:r>
              <a:rPr lang="en-US" sz="1000" dirty="0">
                <a:solidFill>
                  <a:schemeClr val="dk2"/>
                </a:solidFill>
                <a:highlight>
                  <a:srgbClr val="FFFFFF"/>
                </a:highlight>
              </a:rPr>
              <a:t>MongoDB also supports peer-to-peer replication, where each node can act as a master and a slave, allowing for bidirectional data replication between nodes.</a:t>
            </a:r>
          </a:p>
          <a:p>
            <a:pPr marL="914400" marR="0" lvl="1" indent="-298450" algn="l" rtl="0">
              <a:lnSpc>
                <a:spcPct val="138461"/>
              </a:lnSpc>
              <a:spcBef>
                <a:spcPts val="0"/>
              </a:spcBef>
              <a:spcAft>
                <a:spcPts val="0"/>
              </a:spcAft>
              <a:buClr>
                <a:schemeClr val="dk2"/>
              </a:buClr>
              <a:buSzPts val="1100"/>
              <a:buChar char="○"/>
            </a:pPr>
            <a:endParaRPr lang="en-US" sz="1100" b="1" dirty="0">
              <a:solidFill>
                <a:schemeClr val="dk2"/>
              </a:solidFill>
              <a:highlight>
                <a:srgbClr val="FFFFFF"/>
              </a:highlight>
            </a:endParaRPr>
          </a:p>
          <a:p>
            <a:pPr marL="742950" lvl="0" indent="-285750" algn="l" rtl="0">
              <a:spcBef>
                <a:spcPts val="1400"/>
              </a:spcBef>
              <a:spcAft>
                <a:spcPts val="0"/>
              </a:spcAft>
              <a:buFont typeface="Arial" panose="020B0604020202020204" pitchFamily="34" charset="0"/>
              <a:buChar char="•"/>
            </a:pPr>
            <a:endParaRPr sz="1300" b="1" dirty="0">
              <a:solidFill>
                <a:schemeClr val="tx1"/>
              </a:solidFill>
              <a:highlight>
                <a:srgbClr val="FFFFFF"/>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title"/>
          </p:nvPr>
        </p:nvSpPr>
        <p:spPr>
          <a:xfrm>
            <a:off x="998125" y="1083500"/>
            <a:ext cx="4316400" cy="53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800" dirty="0">
                <a:solidFill>
                  <a:schemeClr val="accent2"/>
                </a:solidFill>
              </a:rPr>
              <a:t>Other </a:t>
            </a:r>
            <a:r>
              <a:rPr lang="en" sz="3800" dirty="0">
                <a:solidFill>
                  <a:schemeClr val="tx1"/>
                </a:solidFill>
              </a:rPr>
              <a:t>concetps</a:t>
            </a:r>
            <a:endParaRPr sz="3800" dirty="0">
              <a:solidFill>
                <a:schemeClr val="tx1"/>
              </a:solidFill>
            </a:endParaRPr>
          </a:p>
        </p:txBody>
      </p:sp>
      <p:sp>
        <p:nvSpPr>
          <p:cNvPr id="162" name="Google Shape;162;p21"/>
          <p:cNvSpPr txBox="1">
            <a:spLocks noGrp="1"/>
          </p:cNvSpPr>
          <p:nvPr>
            <p:ph type="title"/>
          </p:nvPr>
        </p:nvSpPr>
        <p:spPr>
          <a:xfrm>
            <a:off x="410600" y="281625"/>
            <a:ext cx="8229600" cy="48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AAAAAA"/>
                </a:solidFill>
              </a:rPr>
              <a:t>Advanced NoSQL</a:t>
            </a:r>
            <a:endParaRPr dirty="0">
              <a:solidFill>
                <a:srgbClr val="AAAAAA"/>
              </a:solidFill>
            </a:endParaRPr>
          </a:p>
        </p:txBody>
      </p:sp>
      <p:grpSp>
        <p:nvGrpSpPr>
          <p:cNvPr id="164" name="Google Shape;164;p21"/>
          <p:cNvGrpSpPr/>
          <p:nvPr/>
        </p:nvGrpSpPr>
        <p:grpSpPr>
          <a:xfrm>
            <a:off x="8315678" y="1805135"/>
            <a:ext cx="782900" cy="713938"/>
            <a:chOff x="-5251625" y="3272950"/>
            <a:chExt cx="292225" cy="292250"/>
          </a:xfrm>
        </p:grpSpPr>
        <p:sp>
          <p:nvSpPr>
            <p:cNvPr id="165" name="Google Shape;165;p21"/>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1"/>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1"/>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21"/>
          <p:cNvSpPr/>
          <p:nvPr/>
        </p:nvSpPr>
        <p:spPr>
          <a:xfrm>
            <a:off x="7467450" y="1330550"/>
            <a:ext cx="2471123" cy="2367032"/>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p:nvPr/>
        </p:nvSpPr>
        <p:spPr>
          <a:xfrm>
            <a:off x="8533016" y="2398125"/>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1"/>
          <p:cNvSpPr/>
          <p:nvPr/>
        </p:nvSpPr>
        <p:spPr>
          <a:xfrm>
            <a:off x="8107149" y="1891300"/>
            <a:ext cx="1218600" cy="1218600"/>
          </a:xfrm>
          <a:prstGeom prst="ellipse">
            <a:avLst/>
          </a:prstGeom>
          <a:solidFill>
            <a:schemeClr val="accent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1"/>
          <p:cNvSpPr/>
          <p:nvPr/>
        </p:nvSpPr>
        <p:spPr>
          <a:xfrm>
            <a:off x="8380525" y="2209424"/>
            <a:ext cx="649181" cy="599058"/>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63;p21">
            <a:extLst>
              <a:ext uri="{FF2B5EF4-FFF2-40B4-BE49-F238E27FC236}">
                <a16:creationId xmlns:a16="http://schemas.microsoft.com/office/drawing/2014/main" id="{62426D64-D9FE-FF1D-F642-9C9DE427336C}"/>
              </a:ext>
            </a:extLst>
          </p:cNvPr>
          <p:cNvSpPr txBox="1"/>
          <p:nvPr/>
        </p:nvSpPr>
        <p:spPr>
          <a:xfrm>
            <a:off x="826360" y="1755236"/>
            <a:ext cx="6667965" cy="3428186"/>
          </a:xfrm>
          <a:prstGeom prst="rect">
            <a:avLst/>
          </a:prstGeom>
          <a:noFill/>
          <a:ln>
            <a:noFill/>
          </a:ln>
        </p:spPr>
        <p:txBody>
          <a:bodyPr spcFirstLastPara="1" wrap="square" lIns="91425" tIns="91425" rIns="91425" bIns="91425" anchor="ctr" anchorCtr="0">
            <a:noAutofit/>
          </a:bodyPr>
          <a:lstStyle/>
          <a:p>
            <a:pPr marL="457200" marR="0" lvl="0" indent="-314325" algn="l" rtl="0">
              <a:lnSpc>
                <a:spcPct val="138461"/>
              </a:lnSpc>
              <a:spcBef>
                <a:spcPts val="1400"/>
              </a:spcBef>
              <a:spcAft>
                <a:spcPts val="0"/>
              </a:spcAft>
              <a:buClr>
                <a:schemeClr val="dk1"/>
              </a:buClr>
              <a:buSzPts val="1350"/>
              <a:buChar char="●"/>
            </a:pPr>
            <a:r>
              <a:rPr lang="en-US" sz="1300" b="1" dirty="0">
                <a:solidFill>
                  <a:srgbClr val="202124"/>
                </a:solidFill>
                <a:highlight>
                  <a:srgbClr val="FFFFFF"/>
                </a:highlight>
              </a:rPr>
              <a:t>Clustering:</a:t>
            </a:r>
          </a:p>
          <a:p>
            <a:pPr marL="914400" marR="0" lvl="1" indent="-298450" algn="l" rtl="0">
              <a:lnSpc>
                <a:spcPct val="138461"/>
              </a:lnSpc>
              <a:spcBef>
                <a:spcPts val="0"/>
              </a:spcBef>
              <a:spcAft>
                <a:spcPts val="0"/>
              </a:spcAft>
              <a:buClr>
                <a:schemeClr val="dk2"/>
              </a:buClr>
              <a:buSzPts val="1100"/>
              <a:buChar char="○"/>
            </a:pPr>
            <a:r>
              <a:rPr lang="en-US" sz="1000" dirty="0">
                <a:solidFill>
                  <a:schemeClr val="dk2"/>
                </a:solidFill>
                <a:highlight>
                  <a:srgbClr val="FFFFFF"/>
                </a:highlight>
              </a:rPr>
              <a:t>MongoDB's sharding feature enables clustering by distributing data across multiple servers. Additionally, you can configure replica sets for high availability and fault tolerance, forming a clustered architecture suitable for handling large-scale applications with high traffic.</a:t>
            </a:r>
            <a:endParaRPr lang="en-US" sz="1100" b="1" dirty="0">
              <a:solidFill>
                <a:schemeClr val="dk2"/>
              </a:solidFill>
              <a:highlight>
                <a:srgbClr val="FFFFFF"/>
              </a:highlight>
            </a:endParaRPr>
          </a:p>
          <a:p>
            <a:pPr marL="457200" marR="0" lvl="0" indent="-314325" algn="l" rtl="0">
              <a:lnSpc>
                <a:spcPct val="138461"/>
              </a:lnSpc>
              <a:spcBef>
                <a:spcPts val="0"/>
              </a:spcBef>
              <a:spcAft>
                <a:spcPts val="0"/>
              </a:spcAft>
              <a:buClr>
                <a:schemeClr val="dk1"/>
              </a:buClr>
              <a:buSzPts val="1350"/>
              <a:buChar char="●"/>
            </a:pPr>
            <a:r>
              <a:rPr lang="en-US" sz="1300" b="1" dirty="0">
                <a:solidFill>
                  <a:srgbClr val="202124"/>
                </a:solidFill>
                <a:highlight>
                  <a:srgbClr val="FFFFFF"/>
                </a:highlight>
              </a:rPr>
              <a:t>Partitioning:</a:t>
            </a:r>
          </a:p>
          <a:p>
            <a:pPr marL="914400" marR="0" lvl="1" indent="-298450" algn="l" rtl="0">
              <a:lnSpc>
                <a:spcPct val="138461"/>
              </a:lnSpc>
              <a:spcBef>
                <a:spcPts val="0"/>
              </a:spcBef>
              <a:spcAft>
                <a:spcPts val="0"/>
              </a:spcAft>
              <a:buClr>
                <a:schemeClr val="dk2"/>
              </a:buClr>
              <a:buSzPts val="1100"/>
              <a:buChar char="○"/>
            </a:pPr>
            <a:r>
              <a:rPr lang="en-US" sz="1000" dirty="0">
                <a:solidFill>
                  <a:schemeClr val="dk2"/>
                </a:solidFill>
                <a:highlight>
                  <a:srgbClr val="FFFFFF"/>
                </a:highlight>
              </a:rPr>
              <a:t>MongoDB partitions data across shards based on a shard key. The shard key determines how data is distributed across shards. Effective partitioning ensures data is evenly distributed and queries can be efficiently routed to the appropriate shard.</a:t>
            </a:r>
          </a:p>
          <a:p>
            <a:pPr marL="457200" indent="-314325">
              <a:lnSpc>
                <a:spcPct val="138461"/>
              </a:lnSpc>
              <a:buClr>
                <a:schemeClr val="dk1"/>
              </a:buClr>
              <a:buSzPts val="1350"/>
              <a:buFont typeface="Arial"/>
              <a:buChar char="●"/>
            </a:pPr>
            <a:r>
              <a:rPr lang="en-US" sz="1300" b="1" dirty="0">
                <a:solidFill>
                  <a:srgbClr val="202124"/>
                </a:solidFill>
                <a:highlight>
                  <a:srgbClr val="FFFFFF"/>
                </a:highlight>
              </a:rPr>
              <a:t>Indexing:</a:t>
            </a:r>
          </a:p>
          <a:p>
            <a:pPr marL="914400" marR="0" lvl="1" indent="-298450" algn="l" rtl="0">
              <a:lnSpc>
                <a:spcPct val="138461"/>
              </a:lnSpc>
              <a:spcBef>
                <a:spcPts val="0"/>
              </a:spcBef>
              <a:spcAft>
                <a:spcPts val="0"/>
              </a:spcAft>
              <a:buClr>
                <a:schemeClr val="dk2"/>
              </a:buClr>
              <a:buSzPts val="1100"/>
              <a:buChar char="○"/>
            </a:pPr>
            <a:r>
              <a:rPr lang="en-US" sz="1000" dirty="0">
                <a:solidFill>
                  <a:schemeClr val="dk2"/>
                </a:solidFill>
                <a:highlight>
                  <a:srgbClr val="FFFFFF"/>
                </a:highlight>
              </a:rPr>
              <a:t>MongoDB supports various types of indexes to improve query performance, including single-field indexes, compound indexes, multikey indexes, text indexes, geospatial indexes, and hashed indexes. Proper indexing is crucial for optimizing query performance and ensuring efficient data retrieval.</a:t>
            </a:r>
            <a:endParaRPr lang="en-US" sz="1100" b="1" dirty="0">
              <a:solidFill>
                <a:schemeClr val="dk2"/>
              </a:solidFill>
              <a:highlight>
                <a:srgbClr val="FFFFFF"/>
              </a:highlight>
            </a:endParaRPr>
          </a:p>
          <a:p>
            <a:pPr marL="742950" lvl="0" indent="-285750" algn="l" rtl="0">
              <a:spcBef>
                <a:spcPts val="1400"/>
              </a:spcBef>
              <a:spcAft>
                <a:spcPts val="0"/>
              </a:spcAft>
              <a:buFont typeface="Arial" panose="020B0604020202020204" pitchFamily="34" charset="0"/>
              <a:buChar char="•"/>
            </a:pPr>
            <a:endParaRPr sz="1300" b="1" dirty="0">
              <a:solidFill>
                <a:schemeClr val="tx1"/>
              </a:solidFill>
              <a:highlight>
                <a:srgbClr val="FFFFFF"/>
              </a:highlight>
            </a:endParaRPr>
          </a:p>
        </p:txBody>
      </p:sp>
    </p:spTree>
    <p:extLst>
      <p:ext uri="{BB962C8B-B14F-4D97-AF65-F5344CB8AC3E}">
        <p14:creationId xmlns:p14="http://schemas.microsoft.com/office/powerpoint/2010/main" val="2341601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 name="Google Shape;205;p24">
            <a:extLst>
              <a:ext uri="{FF2B5EF4-FFF2-40B4-BE49-F238E27FC236}">
                <a16:creationId xmlns:a16="http://schemas.microsoft.com/office/drawing/2014/main" id="{573D4492-2755-A277-2159-CCD0C8C95C01}"/>
              </a:ext>
            </a:extLst>
          </p:cNvPr>
          <p:cNvSpPr txBox="1">
            <a:spLocks/>
          </p:cNvSpPr>
          <p:nvPr/>
        </p:nvSpPr>
        <p:spPr>
          <a:xfrm>
            <a:off x="464644" y="175683"/>
            <a:ext cx="6252244" cy="736600"/>
          </a:xfrm>
          <a:prstGeom prst="rect">
            <a:avLst/>
          </a:prstGeom>
          <a:noFill/>
          <a:ln>
            <a:noFill/>
          </a:ln>
          <a:effectLst>
            <a:outerShdw blurRad="114300" dist="9525" algn="bl" rotWithShape="0">
              <a:srgbClr val="000000">
                <a:alpha val="47000"/>
              </a:srgb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r>
              <a:rPr lang="en-IN" dirty="0">
                <a:solidFill>
                  <a:schemeClr val="accent4"/>
                </a:solidFill>
              </a:rPr>
              <a:t>Me </a:t>
            </a:r>
            <a:r>
              <a:rPr lang="en-IN" dirty="0">
                <a:solidFill>
                  <a:schemeClr val="accent2"/>
                </a:solidFill>
              </a:rPr>
              <a:t>Arjun CC,</a:t>
            </a:r>
          </a:p>
          <a:p>
            <a:endParaRPr lang="en-IN" dirty="0">
              <a:solidFill>
                <a:schemeClr val="accent6"/>
              </a:solidFill>
            </a:endParaRPr>
          </a:p>
        </p:txBody>
      </p:sp>
      <p:pic>
        <p:nvPicPr>
          <p:cNvPr id="4" name="Picture 3">
            <a:extLst>
              <a:ext uri="{FF2B5EF4-FFF2-40B4-BE49-F238E27FC236}">
                <a16:creationId xmlns:a16="http://schemas.microsoft.com/office/drawing/2014/main" id="{D3F0F76F-5532-2471-99E5-D4A248D5785D}"/>
              </a:ext>
            </a:extLst>
          </p:cNvPr>
          <p:cNvPicPr>
            <a:picLocks noChangeAspect="1"/>
          </p:cNvPicPr>
          <p:nvPr/>
        </p:nvPicPr>
        <p:blipFill>
          <a:blip r:embed="rId3"/>
          <a:stretch>
            <a:fillRect/>
          </a:stretch>
        </p:blipFill>
        <p:spPr>
          <a:xfrm>
            <a:off x="464644" y="912283"/>
            <a:ext cx="3665538" cy="1562235"/>
          </a:xfrm>
          <a:prstGeom prst="rect">
            <a:avLst/>
          </a:prstGeom>
        </p:spPr>
      </p:pic>
      <p:pic>
        <p:nvPicPr>
          <p:cNvPr id="6" name="Picture 5">
            <a:extLst>
              <a:ext uri="{FF2B5EF4-FFF2-40B4-BE49-F238E27FC236}">
                <a16:creationId xmlns:a16="http://schemas.microsoft.com/office/drawing/2014/main" id="{A9B4875C-47C7-269C-4C12-3B35123B4EB5}"/>
              </a:ext>
            </a:extLst>
          </p:cNvPr>
          <p:cNvPicPr>
            <a:picLocks noChangeAspect="1"/>
          </p:cNvPicPr>
          <p:nvPr/>
        </p:nvPicPr>
        <p:blipFill>
          <a:blip r:embed="rId4"/>
          <a:stretch>
            <a:fillRect/>
          </a:stretch>
        </p:blipFill>
        <p:spPr>
          <a:xfrm>
            <a:off x="625161" y="2797527"/>
            <a:ext cx="2339543" cy="1996613"/>
          </a:xfrm>
          <a:prstGeom prst="rect">
            <a:avLst/>
          </a:prstGeom>
        </p:spPr>
      </p:pic>
      <p:pic>
        <p:nvPicPr>
          <p:cNvPr id="8" name="Picture 7">
            <a:extLst>
              <a:ext uri="{FF2B5EF4-FFF2-40B4-BE49-F238E27FC236}">
                <a16:creationId xmlns:a16="http://schemas.microsoft.com/office/drawing/2014/main" id="{839C19A2-988E-15FD-A104-A3FA1426F5E6}"/>
              </a:ext>
            </a:extLst>
          </p:cNvPr>
          <p:cNvPicPr>
            <a:picLocks noChangeAspect="1"/>
          </p:cNvPicPr>
          <p:nvPr/>
        </p:nvPicPr>
        <p:blipFill>
          <a:blip r:embed="rId5"/>
          <a:stretch>
            <a:fillRect/>
          </a:stretch>
        </p:blipFill>
        <p:spPr>
          <a:xfrm>
            <a:off x="2701308" y="2244371"/>
            <a:ext cx="2857748" cy="2629128"/>
          </a:xfrm>
          <a:prstGeom prst="rect">
            <a:avLst/>
          </a:prstGeom>
        </p:spPr>
      </p:pic>
      <p:pic>
        <p:nvPicPr>
          <p:cNvPr id="10" name="Picture 9">
            <a:extLst>
              <a:ext uri="{FF2B5EF4-FFF2-40B4-BE49-F238E27FC236}">
                <a16:creationId xmlns:a16="http://schemas.microsoft.com/office/drawing/2014/main" id="{FFB89DB4-9462-CB4E-C94E-87302FC23CC8}"/>
              </a:ext>
            </a:extLst>
          </p:cNvPr>
          <p:cNvPicPr>
            <a:picLocks noChangeAspect="1"/>
          </p:cNvPicPr>
          <p:nvPr/>
        </p:nvPicPr>
        <p:blipFill>
          <a:blip r:embed="rId6"/>
          <a:stretch>
            <a:fillRect/>
          </a:stretch>
        </p:blipFill>
        <p:spPr>
          <a:xfrm>
            <a:off x="5806735" y="1770808"/>
            <a:ext cx="2949196" cy="3208298"/>
          </a:xfrm>
          <a:prstGeom prst="rect">
            <a:avLst/>
          </a:prstGeom>
        </p:spPr>
      </p:pic>
      <p:pic>
        <p:nvPicPr>
          <p:cNvPr id="12" name="Picture 11">
            <a:extLst>
              <a:ext uri="{FF2B5EF4-FFF2-40B4-BE49-F238E27FC236}">
                <a16:creationId xmlns:a16="http://schemas.microsoft.com/office/drawing/2014/main" id="{A9CB3D7F-AD78-4037-9DEA-1F372E151F47}"/>
              </a:ext>
            </a:extLst>
          </p:cNvPr>
          <p:cNvPicPr>
            <a:picLocks noChangeAspect="1"/>
          </p:cNvPicPr>
          <p:nvPr/>
        </p:nvPicPr>
        <p:blipFill>
          <a:blip r:embed="rId7"/>
          <a:stretch>
            <a:fillRect/>
          </a:stretch>
        </p:blipFill>
        <p:spPr>
          <a:xfrm>
            <a:off x="2332874" y="238386"/>
            <a:ext cx="2239126" cy="721217"/>
          </a:xfrm>
          <a:prstGeom prst="rect">
            <a:avLst/>
          </a:prstGeom>
        </p:spPr>
      </p:pic>
      <p:pic>
        <p:nvPicPr>
          <p:cNvPr id="14" name="Picture 13">
            <a:extLst>
              <a:ext uri="{FF2B5EF4-FFF2-40B4-BE49-F238E27FC236}">
                <a16:creationId xmlns:a16="http://schemas.microsoft.com/office/drawing/2014/main" id="{77699C14-AE22-BD38-9F66-5FA5F5EBFA17}"/>
              </a:ext>
            </a:extLst>
          </p:cNvPr>
          <p:cNvPicPr>
            <a:picLocks noChangeAspect="1"/>
          </p:cNvPicPr>
          <p:nvPr/>
        </p:nvPicPr>
        <p:blipFill>
          <a:blip r:embed="rId8"/>
          <a:stretch>
            <a:fillRect/>
          </a:stretch>
        </p:blipFill>
        <p:spPr>
          <a:xfrm>
            <a:off x="4835705" y="197284"/>
            <a:ext cx="3957850" cy="1562235"/>
          </a:xfrm>
          <a:prstGeom prst="rect">
            <a:avLst/>
          </a:prstGeom>
        </p:spPr>
      </p:pic>
      <p:sp>
        <p:nvSpPr>
          <p:cNvPr id="17" name="Rectangle 16">
            <a:extLst>
              <a:ext uri="{FF2B5EF4-FFF2-40B4-BE49-F238E27FC236}">
                <a16:creationId xmlns:a16="http://schemas.microsoft.com/office/drawing/2014/main" id="{B67C24B7-956A-58DA-529E-523CCBF2CA42}"/>
              </a:ext>
            </a:extLst>
          </p:cNvPr>
          <p:cNvSpPr/>
          <p:nvPr/>
        </p:nvSpPr>
        <p:spPr>
          <a:xfrm>
            <a:off x="2225464" y="1374285"/>
            <a:ext cx="5576711" cy="1562235"/>
          </a:xfrm>
          <a:prstGeom prst="rect">
            <a:avLst/>
          </a:prstGeom>
          <a:solidFill>
            <a:schemeClr val="bg1">
              <a:alpha val="5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oogle Shape;205;p24">
            <a:extLst>
              <a:ext uri="{FF2B5EF4-FFF2-40B4-BE49-F238E27FC236}">
                <a16:creationId xmlns:a16="http://schemas.microsoft.com/office/drawing/2014/main" id="{87A4B811-561B-44D0-DCBF-0C575049E0B0}"/>
              </a:ext>
            </a:extLst>
          </p:cNvPr>
          <p:cNvSpPr txBox="1">
            <a:spLocks/>
          </p:cNvSpPr>
          <p:nvPr/>
        </p:nvSpPr>
        <p:spPr>
          <a:xfrm>
            <a:off x="2445721" y="1358081"/>
            <a:ext cx="5356454" cy="1557046"/>
          </a:xfrm>
          <a:prstGeom prst="rect">
            <a:avLst/>
          </a:prstGeom>
          <a:noFill/>
          <a:ln>
            <a:noFill/>
          </a:ln>
          <a:effectLst>
            <a:outerShdw blurRad="114300" dist="9525" algn="bl" rotWithShape="0">
              <a:srgbClr val="000000">
                <a:alpha val="47000"/>
              </a:srgbClr>
            </a:outerShdw>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l" rtl="0">
              <a:lnSpc>
                <a:spcPct val="100000"/>
              </a:lnSpc>
              <a:spcBef>
                <a:spcPts val="0"/>
              </a:spcBef>
              <a:spcAft>
                <a:spcPts val="0"/>
              </a:spcAft>
              <a:buClr>
                <a:schemeClr val="dk1"/>
              </a:buClr>
              <a:buSzPts val="2800"/>
              <a:buFont typeface="Fira Sans Extra Condensed SemiBold"/>
              <a:buNone/>
              <a:defRPr sz="28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r>
              <a:rPr lang="en-IN" sz="9600" dirty="0">
                <a:solidFill>
                  <a:schemeClr val="accent4"/>
                </a:solidFill>
              </a:rPr>
              <a:t>Thank </a:t>
            </a:r>
            <a:r>
              <a:rPr lang="en-IN" sz="9600" dirty="0">
                <a:solidFill>
                  <a:schemeClr val="accent2"/>
                </a:solidFill>
              </a:rPr>
              <a:t>You.</a:t>
            </a:r>
          </a:p>
          <a:p>
            <a:endParaRPr lang="en-IN" sz="3900" dirty="0">
              <a:solidFill>
                <a:schemeClr val="accent6"/>
              </a:solidFill>
            </a:endParaRPr>
          </a:p>
        </p:txBody>
      </p:sp>
    </p:spTree>
  </p:cSld>
  <p:clrMapOvr>
    <a:masterClrMapping/>
  </p:clrMapOvr>
</p:sld>
</file>

<file path=ppt/theme/theme1.xml><?xml version="1.0" encoding="utf-8"?>
<a:theme xmlns:a="http://schemas.openxmlformats.org/drawingml/2006/main" name="Big Data Infographics by Slidesgo">
  <a:themeElements>
    <a:clrScheme name="Simple Light">
      <a:dk1>
        <a:srgbClr val="000000"/>
      </a:dk1>
      <a:lt1>
        <a:srgbClr val="FFFFFF"/>
      </a:lt1>
      <a:dk2>
        <a:srgbClr val="595959"/>
      </a:dk2>
      <a:lt2>
        <a:srgbClr val="EEEEEE"/>
      </a:lt2>
      <a:accent1>
        <a:srgbClr val="FFC64E"/>
      </a:accent1>
      <a:accent2>
        <a:srgbClr val="FF8001"/>
      </a:accent2>
      <a:accent3>
        <a:srgbClr val="5FD0DB"/>
      </a:accent3>
      <a:accent4>
        <a:srgbClr val="32AAD9"/>
      </a:accent4>
      <a:accent5>
        <a:srgbClr val="1A569C"/>
      </a:accent5>
      <a:accent6>
        <a:srgbClr val="D558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TotalTime>
  <Words>3247</Words>
  <Application>Microsoft Office PowerPoint</Application>
  <PresentationFormat>On-screen Show (16:9)</PresentationFormat>
  <Paragraphs>303</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Fira Sans Extra Condensed</vt:lpstr>
      <vt:lpstr>Fira Sans Extra Condensed Medium</vt:lpstr>
      <vt:lpstr>Fira Sans Extra Condensed SemiBold</vt:lpstr>
      <vt:lpstr>Georgia</vt:lpstr>
      <vt:lpstr>Roboto</vt:lpstr>
      <vt:lpstr>Big Data Infographics by Slidesgo</vt:lpstr>
      <vt:lpstr>What Do You  EXPECT ? </vt:lpstr>
      <vt:lpstr>An Introduction to </vt:lpstr>
      <vt:lpstr>What ?  Who ?  Secure ?  </vt:lpstr>
      <vt:lpstr>Questions to be addressed</vt:lpstr>
      <vt:lpstr>Questions to be addressed</vt:lpstr>
      <vt:lpstr>A Sample Problem</vt:lpstr>
      <vt:lpstr>The Problem : RDBMS Traditional problem</vt:lpstr>
      <vt:lpstr>The Problem : RDBMS Traditional problem</vt:lpstr>
      <vt:lpstr>The solution : RDBMS Traditional problem</vt:lpstr>
      <vt:lpstr>But JOINs Are Always  Expensive</vt:lpstr>
      <vt:lpstr>What is NoSQL</vt:lpstr>
      <vt:lpstr>Terminologied mongo DB </vt:lpstr>
      <vt:lpstr>Why mongo DB ?</vt:lpstr>
      <vt:lpstr>When to use MongoDB</vt:lpstr>
      <vt:lpstr>When to use MongoDB</vt:lpstr>
      <vt:lpstr>Who all can use mongo DB ?</vt:lpstr>
      <vt:lpstr>How to Mongo - Server</vt:lpstr>
      <vt:lpstr>How to Mongo - bash</vt:lpstr>
      <vt:lpstr>How to Mongo - Compass</vt:lpstr>
      <vt:lpstr>How to Mongo - mongosh</vt:lpstr>
      <vt:lpstr>How to Mongo - Query</vt:lpstr>
      <vt:lpstr>How to Mongo - Query</vt:lpstr>
      <vt:lpstr>Security side of MongoDB </vt:lpstr>
      <vt:lpstr>Security side of MongoDB </vt:lpstr>
      <vt:lpstr>Other concetps</vt:lpstr>
      <vt:lpstr>Other concetps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Do You Already  KNOW ? </dc:title>
  <cp:lastModifiedBy>Aswathy Rajan</cp:lastModifiedBy>
  <cp:revision>58</cp:revision>
  <dcterms:modified xsi:type="dcterms:W3CDTF">2024-05-08T03:54:47Z</dcterms:modified>
</cp:coreProperties>
</file>